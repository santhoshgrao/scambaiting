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66" r:id="rId2"/>
    <p:sldId id="257" r:id="rId3"/>
    <p:sldId id="263" r:id="rId4"/>
    <p:sldId id="270" r:id="rId5"/>
    <p:sldId id="260" r:id="rId6"/>
    <p:sldId id="258" r:id="rId7"/>
    <p:sldId id="271" r:id="rId8"/>
    <p:sldId id="272" r:id="rId9"/>
    <p:sldId id="273" r:id="rId10"/>
    <p:sldId id="274" r:id="rId11"/>
    <p:sldId id="265" r:id="rId12"/>
  </p:sldIdLst>
  <p:sldSz cx="18288000" cy="10287000"/>
  <p:notesSz cx="6858000" cy="9144000"/>
  <p:embeddedFontLst>
    <p:embeddedFont>
      <p:font typeface="Inter" panose="020B0604020202020204" charset="0"/>
      <p:regular r:id="rId13"/>
    </p:embeddedFont>
    <p:embeddedFont>
      <p:font typeface="Inter Medium" panose="020B0604020202020204" charset="0"/>
      <p:regular r:id="rId14"/>
    </p:embeddedFont>
    <p:embeddedFont>
      <p:font typeface="Red Hat Display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EFE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40"/>
            <a:ext cx="15544800" cy="22050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127" y="-41076"/>
            <a:ext cx="18361686" cy="1032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033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127" y="-41076"/>
            <a:ext cx="18361686" cy="1032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49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2"/>
            <a:ext cx="15544800" cy="2043113"/>
          </a:xfrm>
        </p:spPr>
        <p:txBody>
          <a:bodyPr anchor="t"/>
          <a:lstStyle>
            <a:lvl1pPr algn="l">
              <a:defRPr sz="6000" b="1" cap="all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1"/>
          </a:xfrm>
        </p:spPr>
        <p:txBody>
          <a:bodyPr anchor="b"/>
          <a:lstStyle>
            <a:lvl1pPr marL="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127" y="-41076"/>
            <a:ext cx="18361686" cy="1032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089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2"/>
            <a:ext cx="8077200" cy="6788945"/>
          </a:xfrm>
        </p:spPr>
        <p:txBody>
          <a:bodyPr/>
          <a:lstStyle>
            <a:lvl1pPr>
              <a:defRPr sz="4200"/>
            </a:lvl1pPr>
            <a:lvl2pPr>
              <a:defRPr sz="3600"/>
            </a:lvl2pPr>
            <a:lvl3pPr>
              <a:defRPr sz="30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2"/>
            <a:ext cx="8077200" cy="6788945"/>
          </a:xfrm>
        </p:spPr>
        <p:txBody>
          <a:bodyPr/>
          <a:lstStyle>
            <a:lvl1pPr>
              <a:defRPr sz="4200"/>
            </a:lvl1pPr>
            <a:lvl2pPr>
              <a:defRPr sz="3600"/>
            </a:lvl2pPr>
            <a:lvl3pPr>
              <a:defRPr sz="30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127" y="-41076"/>
            <a:ext cx="18361686" cy="1032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694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1" y="2302670"/>
            <a:ext cx="8080376" cy="959643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1" y="3262313"/>
            <a:ext cx="8080376" cy="5926932"/>
          </a:xfrm>
        </p:spPr>
        <p:txBody>
          <a:bodyPr/>
          <a:lstStyle>
            <a:lvl1pPr>
              <a:defRPr sz="3600"/>
            </a:lvl1pPr>
            <a:lvl2pPr>
              <a:defRPr sz="30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3" y="2302670"/>
            <a:ext cx="8083550" cy="959643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3" y="3262313"/>
            <a:ext cx="8083550" cy="5926932"/>
          </a:xfrm>
        </p:spPr>
        <p:txBody>
          <a:bodyPr/>
          <a:lstStyle>
            <a:lvl1pPr>
              <a:defRPr sz="3600"/>
            </a:lvl1pPr>
            <a:lvl2pPr>
              <a:defRPr sz="30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127" y="-41076"/>
            <a:ext cx="18361686" cy="1032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433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127" y="-41076"/>
            <a:ext cx="18361686" cy="1032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144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127" y="-41076"/>
            <a:ext cx="18361686" cy="1032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424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2" y="409575"/>
            <a:ext cx="6016626" cy="1743075"/>
          </a:xfrm>
        </p:spPr>
        <p:txBody>
          <a:bodyPr anchor="b"/>
          <a:lstStyle>
            <a:lvl1pPr algn="l">
              <a:defRPr sz="3000" b="1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77"/>
            <a:ext cx="10223501" cy="8779670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2" y="2152652"/>
            <a:ext cx="6016626" cy="7036595"/>
          </a:xfrm>
        </p:spPr>
        <p:txBody>
          <a:bodyPr/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127" y="-41076"/>
            <a:ext cx="18361686" cy="1032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859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</p:spPr>
        <p:txBody>
          <a:bodyPr anchor="b"/>
          <a:lstStyle>
            <a:lvl1pPr algn="l">
              <a:defRPr sz="3000" b="1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3"/>
            <a:ext cx="10972800" cy="6172200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GB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3"/>
          </a:xfrm>
        </p:spPr>
        <p:txBody>
          <a:bodyPr/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127" y="-41076"/>
            <a:ext cx="18361686" cy="1032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206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127" y="-41076"/>
            <a:ext cx="18361686" cy="1032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386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9"/>
            <a:ext cx="4114800" cy="877728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9"/>
            <a:ext cx="12039600" cy="877728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127" y="-41076"/>
            <a:ext cx="18361686" cy="1032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427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84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2"/>
            <a:ext cx="16459200" cy="6788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990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1371600" rtl="0" eaLnBrk="1" latinLnBrk="0" hangingPunct="1"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14350" indent="-514350" algn="l" defTabSz="13716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114425" indent="-428625" algn="l" defTabSz="1371600" rtl="0" eaLnBrk="1" latinLnBrk="0" hangingPunct="1">
        <a:spcBef>
          <a:spcPct val="20000"/>
        </a:spcBef>
        <a:buFont typeface="Arial" panose="020B0604020202020204" pitchFamily="34" charset="0"/>
        <a:buChar char="–"/>
        <a:defRPr sz="4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spcBef>
          <a:spcPct val="20000"/>
        </a:spcBef>
        <a:buFont typeface="Arial" panose="020B0604020202020204" pitchFamily="34" charset="0"/>
        <a:buChar char="»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5E2BF-2604-84EF-AD56-D22C57844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5">
            <a:extLst>
              <a:ext uri="{FF2B5EF4-FFF2-40B4-BE49-F238E27FC236}">
                <a16:creationId xmlns:a16="http://schemas.microsoft.com/office/drawing/2014/main" id="{37BBCD16-DC71-16A2-F29E-89D49FEACD6F}"/>
              </a:ext>
            </a:extLst>
          </p:cNvPr>
          <p:cNvSpPr txBox="1"/>
          <p:nvPr/>
        </p:nvSpPr>
        <p:spPr>
          <a:xfrm>
            <a:off x="4384438" y="3009900"/>
            <a:ext cx="9519124" cy="32480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57"/>
              </a:lnSpc>
              <a:spcBef>
                <a:spcPct val="0"/>
              </a:spcBef>
            </a:pPr>
            <a:r>
              <a:rPr lang="en-US" sz="4800" dirty="0">
                <a:latin typeface="Red Hat Display Bold" panose="020B0604020202020204" charset="0"/>
              </a:rPr>
              <a:t>A Deception-Driven Multimodal AI System for Intelligent Scam Detection and Adversarial Engagement</a:t>
            </a:r>
            <a:endParaRPr lang="en-US" sz="4540" b="1" spc="1362" dirty="0">
              <a:solidFill>
                <a:srgbClr val="000000"/>
              </a:solidFill>
              <a:latin typeface="Red Hat Display Bold" panose="020B0604020202020204" charset="0"/>
              <a:ea typeface="Red Hat Display Bold"/>
              <a:cs typeface="Red Hat Display Bold"/>
              <a:sym typeface="Red Hat Display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6B22F55-C75B-85D3-AEEB-14E6C5F0B1C3}"/>
              </a:ext>
            </a:extLst>
          </p:cNvPr>
          <p:cNvSpPr txBox="1"/>
          <p:nvPr/>
        </p:nvSpPr>
        <p:spPr>
          <a:xfrm>
            <a:off x="2691039" y="8066649"/>
            <a:ext cx="5279018" cy="1256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Under the guidance of,</a:t>
            </a:r>
            <a:b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	Dr. Prajna S</a:t>
            </a:r>
          </a:p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	Assistant Professor</a:t>
            </a:r>
          </a:p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	Department of 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computer application</a:t>
            </a:r>
            <a:endParaRPr lang="en-US" sz="18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" name="TextBox 26">
            <a:extLst>
              <a:ext uri="{FF2B5EF4-FFF2-40B4-BE49-F238E27FC236}">
                <a16:creationId xmlns:a16="http://schemas.microsoft.com/office/drawing/2014/main" id="{E00A2231-BB5A-B93F-3A55-5AF7AEE093C6}"/>
              </a:ext>
            </a:extLst>
          </p:cNvPr>
          <p:cNvSpPr txBox="1"/>
          <p:nvPr/>
        </p:nvSpPr>
        <p:spPr>
          <a:xfrm>
            <a:off x="12496800" y="8066650"/>
            <a:ext cx="3305249" cy="9359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Submitted by,</a:t>
            </a:r>
            <a:b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	Santhosh G Rao</a:t>
            </a:r>
          </a:p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	02JST24PMC041</a:t>
            </a:r>
            <a:endParaRPr lang="en-US" sz="18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3331839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590550" y="952500"/>
            <a:ext cx="13449300" cy="948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DIGITAL DECEPTION AND MODULES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544800" y="9715500"/>
            <a:ext cx="1393249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1FC15A-4B2D-A897-D312-60BC007C74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450" y="2019300"/>
            <a:ext cx="11087100" cy="7391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5697200" y="9767186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872410"/>
            <a:ext cx="9677400" cy="948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SYSTEM ARCHITECTURE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680B4B5-9E1B-49D5-28FB-E595D6F8B200}"/>
              </a:ext>
            </a:extLst>
          </p:cNvPr>
          <p:cNvGrpSpPr/>
          <p:nvPr/>
        </p:nvGrpSpPr>
        <p:grpSpPr>
          <a:xfrm>
            <a:off x="3505200" y="2019300"/>
            <a:ext cx="11277600" cy="7518400"/>
            <a:chOff x="3505200" y="2019300"/>
            <a:chExt cx="11277600" cy="7518400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E018DA8-D0CD-104F-EEE0-A6416E684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05200" y="2019300"/>
              <a:ext cx="11277600" cy="7518400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65F341F-17EE-F532-19A3-B89F2C1C4707}"/>
                </a:ext>
              </a:extLst>
            </p:cNvPr>
            <p:cNvSpPr/>
            <p:nvPr/>
          </p:nvSpPr>
          <p:spPr>
            <a:xfrm>
              <a:off x="12344400" y="7962900"/>
              <a:ext cx="1828800" cy="152400"/>
            </a:xfrm>
            <a:prstGeom prst="rect">
              <a:avLst/>
            </a:prstGeom>
            <a:solidFill>
              <a:srgbClr val="FEFEFE"/>
            </a:solidFill>
            <a:ln>
              <a:solidFill>
                <a:srgbClr val="FEFEFE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68C95-32A3-1FF1-8AC1-62019C450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>
            <a:extLst>
              <a:ext uri="{FF2B5EF4-FFF2-40B4-BE49-F238E27FC236}">
                <a16:creationId xmlns:a16="http://schemas.microsoft.com/office/drawing/2014/main" id="{8D9EEA15-CC35-BB2A-70AE-197B47B363EE}"/>
              </a:ext>
            </a:extLst>
          </p:cNvPr>
          <p:cNvSpPr txBox="1"/>
          <p:nvPr/>
        </p:nvSpPr>
        <p:spPr>
          <a:xfrm>
            <a:off x="1028700" y="3358220"/>
            <a:ext cx="8572500" cy="1949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INPUT AND ACQUISITION MODULE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8CEAC6F-B6EE-FA15-D733-83308FE1B6A6}"/>
              </a:ext>
            </a:extLst>
          </p:cNvPr>
          <p:cNvSpPr txBox="1"/>
          <p:nvPr/>
        </p:nvSpPr>
        <p:spPr>
          <a:xfrm>
            <a:off x="1028700" y="5829300"/>
            <a:ext cx="8343900" cy="1791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Captures incoming messages 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SMS → direct access (</a:t>
            </a:r>
            <a:r>
              <a:rPr lang="en-US" sz="20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android.provider.Telephony.SMS_RECEIVED</a:t>
            </a:r>
            <a:r>
              <a:rPr lang="en-US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 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Email → API-based 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App data → limited access(Through notification listener)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BED779A-2368-6009-BBCA-228BA4A53548}"/>
              </a:ext>
            </a:extLst>
          </p:cNvPr>
          <p:cNvSpPr txBox="1"/>
          <p:nvPr/>
        </p:nvSpPr>
        <p:spPr>
          <a:xfrm>
            <a:off x="15544800" y="9715500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04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2D9247-ECDA-CFD8-5E68-D64508833B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96" t="1156" r="22779" b="2397"/>
          <a:stretch>
            <a:fillRect/>
          </a:stretch>
        </p:blipFill>
        <p:spPr>
          <a:xfrm>
            <a:off x="10242085" y="2273289"/>
            <a:ext cx="6320590" cy="5740422"/>
          </a:xfrm>
          <a:prstGeom prst="roundRect">
            <a:avLst>
              <a:gd name="adj" fmla="val 9444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74654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4733" y="4096477"/>
            <a:ext cx="7787960" cy="1949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PROCESSING AND AI DETECTION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011400" y="9812205"/>
            <a:ext cx="1393249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534003" y="2533229"/>
            <a:ext cx="5725297" cy="935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Tokenization &amp; normalization 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Stopword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removal 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URL &amp; keyword extraction</a:t>
            </a:r>
            <a:endParaRPr lang="en-US" sz="18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534003" y="2038186"/>
            <a:ext cx="3968105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Text Processing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587112" y="2085811"/>
            <a:ext cx="1512662" cy="15126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963938" y="2635450"/>
            <a:ext cx="75901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534003" y="4924603"/>
            <a:ext cx="5725297" cy="935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TF-IDF / keyword patterns 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Scam phrase detection 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Sender &amp; metadata analysis</a:t>
            </a:r>
            <a:endParaRPr lang="en-US" sz="18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534003" y="4299670"/>
            <a:ext cx="4696597" cy="343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FEATURE ENGINEERING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587112" y="4347295"/>
            <a:ext cx="1512662" cy="15126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963938" y="4896934"/>
            <a:ext cx="75901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534003" y="7377042"/>
            <a:ext cx="5725297" cy="935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ML/NLP model (e.g., Logistic Regression / Naive Bayes / LLM) </a:t>
            </a:r>
          </a:p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Confidence scoring</a:t>
            </a:r>
            <a:endParaRPr lang="en-US" sz="18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534003" y="6752110"/>
            <a:ext cx="3968105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AI CLASSIFICATION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587112" y="6799735"/>
            <a:ext cx="1512662" cy="15126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9963938" y="7349374"/>
            <a:ext cx="75901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9083040" y="6432806"/>
            <a:ext cx="1512662" cy="1512662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083040" y="3321712"/>
            <a:ext cx="1512662" cy="1512662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85800" y="1211952"/>
            <a:ext cx="14750032" cy="948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RESPONSE AND NOTIFICATION MODULE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40000" y="9715500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06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029932" y="6397087"/>
            <a:ext cx="6419868" cy="1558513"/>
            <a:chOff x="0" y="-47625"/>
            <a:chExt cx="8108119" cy="2078017"/>
          </a:xfrm>
        </p:grpSpPr>
        <p:sp>
          <p:nvSpPr>
            <p:cNvPr id="15" name="TextBox 15"/>
            <p:cNvSpPr txBox="1"/>
            <p:nvPr/>
          </p:nvSpPr>
          <p:spPr>
            <a:xfrm>
              <a:off x="0" y="782443"/>
              <a:ext cx="8108119" cy="12479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520"/>
                </a:lnSpc>
                <a:spcBef>
                  <a:spcPct val="0"/>
                </a:spcBef>
              </a:pPr>
              <a:r>
                <a:rPr lang="en-US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Risk score (Low / Medium / High) </a:t>
              </a:r>
            </a:p>
            <a:p>
              <a:pPr>
                <a:lnSpc>
                  <a:spcPts val="2520"/>
                </a:lnSpc>
                <a:spcBef>
                  <a:spcPct val="0"/>
                </a:spcBef>
              </a:pPr>
              <a:r>
                <a:rPr lang="en-US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Real-time alerts to user Action suggestions (block / ignore)</a:t>
              </a:r>
              <a:endPara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6250454" cy="45781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dirty="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NOTIFICATION MODULE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029932" y="3285993"/>
            <a:ext cx="6081089" cy="1558513"/>
            <a:chOff x="0" y="-47625"/>
            <a:chExt cx="8108119" cy="2078018"/>
          </a:xfrm>
        </p:grpSpPr>
        <p:sp>
          <p:nvSpPr>
            <p:cNvPr id="18" name="TextBox 18"/>
            <p:cNvSpPr txBox="1"/>
            <p:nvPr/>
          </p:nvSpPr>
          <p:spPr>
            <a:xfrm>
              <a:off x="0" y="782443"/>
              <a:ext cx="8108119" cy="1247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520"/>
                </a:lnSpc>
                <a:spcBef>
                  <a:spcPct val="0"/>
                </a:spcBef>
              </a:pPr>
              <a:r>
                <a:rPr lang="en-US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Rule-based reply templates </a:t>
              </a:r>
            </a:p>
            <a:p>
              <a:pPr>
                <a:lnSpc>
                  <a:spcPts val="2520"/>
                </a:lnSpc>
                <a:spcBef>
                  <a:spcPct val="0"/>
                </a:spcBef>
              </a:pPr>
              <a:r>
                <a:rPr lang="en-US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Context-aware message generation Delay/randomization (human-like behavior)</a:t>
              </a:r>
              <a:endPara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5290806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dirty="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RESPONSE MODULE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459866" y="3871350"/>
            <a:ext cx="75901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59866" y="6982444"/>
            <a:ext cx="75901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2FBF473-48B1-30AF-56FD-F301973F54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979" y="3262918"/>
            <a:ext cx="7370276" cy="49135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88C73-CDD1-E506-464B-F8413DB99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8F38D1A-0FE6-4512-EFB3-1C7FE874878A}"/>
              </a:ext>
            </a:extLst>
          </p:cNvPr>
          <p:cNvSpPr txBox="1"/>
          <p:nvPr/>
        </p:nvSpPr>
        <p:spPr>
          <a:xfrm>
            <a:off x="15697200" y="9767186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07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134785F-AF01-1BE0-777A-8CE39FB5CB7C}"/>
              </a:ext>
            </a:extLst>
          </p:cNvPr>
          <p:cNvSpPr txBox="1"/>
          <p:nvPr/>
        </p:nvSpPr>
        <p:spPr>
          <a:xfrm>
            <a:off x="914400" y="872410"/>
            <a:ext cx="9677400" cy="948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SYSTEM WORKFLOW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4EC9F9-9A68-57F2-57E3-04BB296A0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00" y="1969528"/>
            <a:ext cx="4953000" cy="742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632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37401-6A80-24A2-7FF4-4E72C353A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>
            <a:extLst>
              <a:ext uri="{FF2B5EF4-FFF2-40B4-BE49-F238E27FC236}">
                <a16:creationId xmlns:a16="http://schemas.microsoft.com/office/drawing/2014/main" id="{71C1A18A-0A98-CC0E-4901-C9CBDBCD98A1}"/>
              </a:ext>
            </a:extLst>
          </p:cNvPr>
          <p:cNvSpPr txBox="1"/>
          <p:nvPr/>
        </p:nvSpPr>
        <p:spPr>
          <a:xfrm>
            <a:off x="1042652" y="1181100"/>
            <a:ext cx="14897100" cy="948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FUNCTIONAL REQUIREMENTS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82B2C4-20FB-869D-3F75-E19061A93F3C}"/>
              </a:ext>
            </a:extLst>
          </p:cNvPr>
          <p:cNvSpPr txBox="1"/>
          <p:nvPr/>
        </p:nvSpPr>
        <p:spPr>
          <a:xfrm>
            <a:off x="1219200" y="2781300"/>
            <a:ext cx="11010900" cy="35997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FR1:</a:t>
            </a:r>
            <a:r>
              <a:rPr lang="en-US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System shall capture incoming SMS using OS-level access 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FR2: </a:t>
            </a:r>
            <a:r>
              <a:rPr lang="en-US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System shall retrieve emails via IMAP/API 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FR3: </a:t>
            </a:r>
            <a:r>
              <a:rPr lang="en-US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System shall preprocess and analyze message content 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FR4: </a:t>
            </a:r>
            <a:r>
              <a:rPr lang="en-US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System shall classify messages using ML models 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FR5: </a:t>
            </a:r>
            <a:r>
              <a:rPr lang="en-US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System shall generate automated responses for scam messages 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FR6: </a:t>
            </a:r>
            <a:r>
              <a:rPr lang="en-US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System shall notify users with risk levels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2EE95CD-7125-5ACD-2DD1-A8B82DD5E37E}"/>
              </a:ext>
            </a:extLst>
          </p:cNvPr>
          <p:cNvSpPr txBox="1"/>
          <p:nvPr/>
        </p:nvSpPr>
        <p:spPr>
          <a:xfrm>
            <a:off x="15544800" y="9715500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08</a:t>
            </a:r>
          </a:p>
        </p:txBody>
      </p:sp>
    </p:spTree>
    <p:extLst>
      <p:ext uri="{BB962C8B-B14F-4D97-AF65-F5344CB8AC3E}">
        <p14:creationId xmlns:p14="http://schemas.microsoft.com/office/powerpoint/2010/main" val="3430246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4CB8A-81A5-E655-8ADD-A19C5D3AB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>
            <a:extLst>
              <a:ext uri="{FF2B5EF4-FFF2-40B4-BE49-F238E27FC236}">
                <a16:creationId xmlns:a16="http://schemas.microsoft.com/office/drawing/2014/main" id="{917E7F53-7463-FF0E-7A67-18C1CC396DB7}"/>
              </a:ext>
            </a:extLst>
          </p:cNvPr>
          <p:cNvSpPr txBox="1"/>
          <p:nvPr/>
        </p:nvSpPr>
        <p:spPr>
          <a:xfrm>
            <a:off x="1042652" y="1181100"/>
            <a:ext cx="14897100" cy="948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NON - FUNCTIONAL REQUIREMENTS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16AC78C-DF88-0488-59A4-68E982EEB51C}"/>
              </a:ext>
            </a:extLst>
          </p:cNvPr>
          <p:cNvSpPr txBox="1"/>
          <p:nvPr/>
        </p:nvSpPr>
        <p:spPr>
          <a:xfrm>
            <a:off x="1219200" y="2781300"/>
            <a:ext cx="11010900" cy="2368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Performance:</a:t>
            </a:r>
            <a:r>
              <a:rPr lang="en-US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&lt; 1 second response time 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Security:</a:t>
            </a:r>
            <a:r>
              <a:rPr lang="en-US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No storage of sensitive personal data, Secure API communication 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Reliability:</a:t>
            </a:r>
            <a:r>
              <a:rPr lang="en-US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Continuous background execution 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Scalability:</a:t>
            </a:r>
            <a:r>
              <a:rPr lang="en-US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Modular architecture supports expansion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08D415B-E944-F389-F81A-54F368B0E785}"/>
              </a:ext>
            </a:extLst>
          </p:cNvPr>
          <p:cNvSpPr txBox="1"/>
          <p:nvPr/>
        </p:nvSpPr>
        <p:spPr>
          <a:xfrm>
            <a:off x="15544800" y="9715500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09</a:t>
            </a:r>
          </a:p>
        </p:txBody>
      </p:sp>
    </p:spTree>
    <p:extLst>
      <p:ext uri="{BB962C8B-B14F-4D97-AF65-F5344CB8AC3E}">
        <p14:creationId xmlns:p14="http://schemas.microsoft.com/office/powerpoint/2010/main" val="13896454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471D8-FD23-DB2A-64DE-8C07F0E44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>
            <a:extLst>
              <a:ext uri="{FF2B5EF4-FFF2-40B4-BE49-F238E27FC236}">
                <a16:creationId xmlns:a16="http://schemas.microsoft.com/office/drawing/2014/main" id="{BBC754DD-CCB0-CAB9-C939-8036A7251E6F}"/>
              </a:ext>
            </a:extLst>
          </p:cNvPr>
          <p:cNvSpPr txBox="1"/>
          <p:nvPr/>
        </p:nvSpPr>
        <p:spPr>
          <a:xfrm>
            <a:off x="1042652" y="1181100"/>
            <a:ext cx="14897100" cy="948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CONSTRAINTS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9893162-7B2F-3C68-285B-E28C8CF4028E}"/>
              </a:ext>
            </a:extLst>
          </p:cNvPr>
          <p:cNvSpPr txBox="1"/>
          <p:nvPr/>
        </p:nvSpPr>
        <p:spPr>
          <a:xfrm>
            <a:off x="15544800" y="9715500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793A92-D0F5-BE20-BC0C-5BC62391CC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476500"/>
            <a:ext cx="8305800" cy="553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4721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6915150" y="4352795"/>
            <a:ext cx="4457700" cy="948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THANK YOU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2743135" y="6163530"/>
            <a:ext cx="3512536" cy="672860"/>
            <a:chOff x="0" y="0"/>
            <a:chExt cx="4683381" cy="897147"/>
          </a:xfrm>
        </p:grpSpPr>
        <p:sp>
          <p:nvSpPr>
            <p:cNvPr id="12" name="TextBox 12"/>
            <p:cNvSpPr txBox="1"/>
            <p:nvPr/>
          </p:nvSpPr>
          <p:spPr>
            <a:xfrm>
              <a:off x="0" y="500907"/>
              <a:ext cx="4683381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hello@reallygreatsite.com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64911" y="-47625"/>
              <a:ext cx="235356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EMAIL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743135" y="4509085"/>
            <a:ext cx="3512536" cy="672860"/>
            <a:chOff x="0" y="0"/>
            <a:chExt cx="4683381" cy="897147"/>
          </a:xfrm>
        </p:grpSpPr>
        <p:sp>
          <p:nvSpPr>
            <p:cNvPr id="15" name="TextBox 15"/>
            <p:cNvSpPr txBox="1"/>
            <p:nvPr/>
          </p:nvSpPr>
          <p:spPr>
            <a:xfrm>
              <a:off x="0" y="500907"/>
              <a:ext cx="4683381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www.reallygreatsite.com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64911" y="-47625"/>
              <a:ext cx="235356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WEBSITE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743135" y="2854640"/>
            <a:ext cx="3512536" cy="672860"/>
            <a:chOff x="0" y="0"/>
            <a:chExt cx="4683381" cy="897147"/>
          </a:xfrm>
        </p:grpSpPr>
        <p:sp>
          <p:nvSpPr>
            <p:cNvPr id="18" name="TextBox 18"/>
            <p:cNvSpPr txBox="1"/>
            <p:nvPr/>
          </p:nvSpPr>
          <p:spPr>
            <a:xfrm>
              <a:off x="0" y="500907"/>
              <a:ext cx="4683381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+123-456-7890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64911" y="-47625"/>
              <a:ext cx="235356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PHONE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743135" y="7817975"/>
            <a:ext cx="3512536" cy="672860"/>
            <a:chOff x="0" y="0"/>
            <a:chExt cx="4683381" cy="897147"/>
          </a:xfrm>
        </p:grpSpPr>
        <p:sp>
          <p:nvSpPr>
            <p:cNvPr id="21" name="TextBox 21"/>
            <p:cNvSpPr txBox="1"/>
            <p:nvPr/>
          </p:nvSpPr>
          <p:spPr>
            <a:xfrm>
              <a:off x="0" y="500907"/>
              <a:ext cx="4683381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123 Anywhere St., Any City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64911" y="-47625"/>
              <a:ext cx="235356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ADDRESS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>
            <a:off x="12507744" y="3932167"/>
            <a:ext cx="3920981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>
            <a:off x="12538913" y="5672738"/>
            <a:ext cx="3920981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>
            <a:off x="12538913" y="7327183"/>
            <a:ext cx="3920981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AI-Based Real-Time Intelligent Surveillance System for Multi-Condition Threat</Template>
  <TotalTime>823</TotalTime>
  <Words>315</Words>
  <Application>Microsoft Office PowerPoint</Application>
  <PresentationFormat>Custom</PresentationFormat>
  <Paragraphs>69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Red Hat Display Bold</vt:lpstr>
      <vt:lpstr>Inter Medium</vt:lpstr>
      <vt:lpstr>Arial</vt:lpstr>
      <vt:lpstr>Inter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Modern Technology Presentation</dc:title>
  <dc:creator>Santhosh G Rao</dc:creator>
  <cp:lastModifiedBy>Santhosh G Rao</cp:lastModifiedBy>
  <cp:revision>8</cp:revision>
  <dcterms:created xsi:type="dcterms:W3CDTF">2006-08-16T00:00:00Z</dcterms:created>
  <dcterms:modified xsi:type="dcterms:W3CDTF">2026-05-02T04:35:55Z</dcterms:modified>
  <dc:identifier>DAHGfcGd82A</dc:identifier>
</cp:coreProperties>
</file>
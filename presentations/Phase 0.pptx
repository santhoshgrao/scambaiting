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66" r:id="rId2"/>
    <p:sldId id="257" r:id="rId3"/>
    <p:sldId id="269" r:id="rId4"/>
    <p:sldId id="258" r:id="rId5"/>
    <p:sldId id="259" r:id="rId6"/>
    <p:sldId id="260" r:id="rId7"/>
    <p:sldId id="261" r:id="rId8"/>
    <p:sldId id="262" r:id="rId9"/>
    <p:sldId id="263" r:id="rId10"/>
    <p:sldId id="264" r:id="rId11"/>
    <p:sldId id="268" r:id="rId12"/>
    <p:sldId id="265" r:id="rId13"/>
  </p:sldIdLst>
  <p:sldSz cx="18288000" cy="10287000"/>
  <p:notesSz cx="6858000" cy="9144000"/>
  <p:embeddedFontLst>
    <p:embeddedFont>
      <p:font typeface="Inter" panose="020B0604020202020204" charset="0"/>
      <p:regular r:id="rId14"/>
    </p:embeddedFont>
    <p:embeddedFont>
      <p:font typeface="Inter Medium" panose="020B0604020202020204" charset="0"/>
      <p:regular r:id="rId15"/>
    </p:embeddedFont>
    <p:embeddedFont>
      <p:font typeface="Red Hat Display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59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195640"/>
            <a:ext cx="15544800" cy="2205038"/>
          </a:xfrm>
        </p:spPr>
        <p:txBody>
          <a:bodyPr/>
          <a:lstStyle/>
          <a:p>
            <a:r>
              <a:rPr lang="en-GB"/>
              <a:t>Click to edit Master title style</a:t>
            </a:r>
            <a:endParaRPr lang="en-IN"/>
          </a:p>
        </p:txBody>
      </p:sp>
      <p:sp>
        <p:nvSpPr>
          <p:cNvPr id="3" name="Subtitle 2"/>
          <p:cNvSpPr>
            <a:spLocks noGrp="1"/>
          </p:cNvSpPr>
          <p:nvPr>
            <p:ph type="subTitle" idx="1"/>
          </p:nvPr>
        </p:nvSpPr>
        <p:spPr>
          <a:xfrm>
            <a:off x="2743200" y="5829300"/>
            <a:ext cx="12801600" cy="2628900"/>
          </a:xfrm>
        </p:spPr>
        <p:txBody>
          <a:bodyPr/>
          <a:lstStyle>
            <a:lvl1pPr marL="0" indent="0" algn="ctr">
              <a:buNone/>
              <a:defRPr>
                <a:solidFill>
                  <a:schemeClr val="tx1">
                    <a:tint val="75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GB"/>
              <a:t>Click to edit Master subtitle style</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2920033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3896049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6610352"/>
            <a:ext cx="15544800" cy="2043113"/>
          </a:xfrm>
        </p:spPr>
        <p:txBody>
          <a:bodyPr anchor="t"/>
          <a:lstStyle>
            <a:lvl1pPr algn="l">
              <a:defRPr sz="6000" b="1" cap="all"/>
            </a:lvl1pPr>
          </a:lstStyle>
          <a:p>
            <a:r>
              <a:rPr lang="en-GB"/>
              <a:t>Click to edit Master title style</a:t>
            </a:r>
            <a:endParaRPr lang="en-IN"/>
          </a:p>
        </p:txBody>
      </p:sp>
      <p:sp>
        <p:nvSpPr>
          <p:cNvPr id="3" name="Text Placeholder 2"/>
          <p:cNvSpPr>
            <a:spLocks noGrp="1"/>
          </p:cNvSpPr>
          <p:nvPr>
            <p:ph type="body" idx="1"/>
          </p:nvPr>
        </p:nvSpPr>
        <p:spPr>
          <a:xfrm>
            <a:off x="1444626" y="4360070"/>
            <a:ext cx="15544800" cy="2250281"/>
          </a:xfrm>
        </p:spPr>
        <p:txBody>
          <a:bodyPr anchor="b"/>
          <a:lstStyle>
            <a:lvl1pPr marL="0" indent="0">
              <a:buNone/>
              <a:defRPr sz="3000">
                <a:solidFill>
                  <a:schemeClr val="tx1">
                    <a:tint val="7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941089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Content Placeholder 2"/>
          <p:cNvSpPr>
            <a:spLocks noGrp="1"/>
          </p:cNvSpPr>
          <p:nvPr>
            <p:ph sz="half" idx="1"/>
          </p:nvPr>
        </p:nvSpPr>
        <p:spPr>
          <a:xfrm>
            <a:off x="914400" y="2400302"/>
            <a:ext cx="80772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p:cNvSpPr>
            <a:spLocks noGrp="1"/>
          </p:cNvSpPr>
          <p:nvPr>
            <p:ph sz="half" idx="2"/>
          </p:nvPr>
        </p:nvSpPr>
        <p:spPr>
          <a:xfrm>
            <a:off x="9296400" y="2400302"/>
            <a:ext cx="8077200" cy="6788945"/>
          </a:xfrm>
        </p:spPr>
        <p:txBody>
          <a:bodyPr/>
          <a:lstStyle>
            <a:lvl1pPr>
              <a:defRPr sz="4200"/>
            </a:lvl1pPr>
            <a:lvl2pPr>
              <a:defRPr sz="3600"/>
            </a:lvl2pPr>
            <a:lvl3pPr>
              <a:defRPr sz="3000"/>
            </a:lvl3pPr>
            <a:lvl4pPr>
              <a:defRPr sz="2700"/>
            </a:lvl4pPr>
            <a:lvl5pPr>
              <a:defRPr sz="2700"/>
            </a:lvl5pPr>
            <a:lvl6pPr>
              <a:defRPr sz="2700"/>
            </a:lvl6pPr>
            <a:lvl7pPr>
              <a:defRPr sz="2700"/>
            </a:lvl7pPr>
            <a:lvl8pPr>
              <a:defRPr sz="2700"/>
            </a:lvl8pPr>
            <a:lvl9pPr>
              <a:defRPr sz="27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3692694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IN"/>
          </a:p>
        </p:txBody>
      </p:sp>
      <p:sp>
        <p:nvSpPr>
          <p:cNvPr id="3" name="Text Placeholder 2"/>
          <p:cNvSpPr>
            <a:spLocks noGrp="1"/>
          </p:cNvSpPr>
          <p:nvPr>
            <p:ph type="body" idx="1"/>
          </p:nvPr>
        </p:nvSpPr>
        <p:spPr>
          <a:xfrm>
            <a:off x="914401" y="2302670"/>
            <a:ext cx="8080376"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GB"/>
              <a:t>Click to edit Master text styles</a:t>
            </a:r>
          </a:p>
        </p:txBody>
      </p:sp>
      <p:sp>
        <p:nvSpPr>
          <p:cNvPr id="4" name="Content Placeholder 3"/>
          <p:cNvSpPr>
            <a:spLocks noGrp="1"/>
          </p:cNvSpPr>
          <p:nvPr>
            <p:ph sz="half" idx="2"/>
          </p:nvPr>
        </p:nvSpPr>
        <p:spPr>
          <a:xfrm>
            <a:off x="914401" y="3262313"/>
            <a:ext cx="8080376"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p:cNvSpPr>
            <a:spLocks noGrp="1"/>
          </p:cNvSpPr>
          <p:nvPr>
            <p:ph type="body" sz="quarter" idx="3"/>
          </p:nvPr>
        </p:nvSpPr>
        <p:spPr>
          <a:xfrm>
            <a:off x="9290053" y="2302670"/>
            <a:ext cx="8083550" cy="959643"/>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GB"/>
              <a:t>Click to edit Master text styles</a:t>
            </a:r>
          </a:p>
        </p:txBody>
      </p:sp>
      <p:sp>
        <p:nvSpPr>
          <p:cNvPr id="6" name="Content Placeholder 5"/>
          <p:cNvSpPr>
            <a:spLocks noGrp="1"/>
          </p:cNvSpPr>
          <p:nvPr>
            <p:ph sz="quarter" idx="4"/>
          </p:nvPr>
        </p:nvSpPr>
        <p:spPr>
          <a:xfrm>
            <a:off x="9290053" y="3262313"/>
            <a:ext cx="8083550" cy="5926932"/>
          </a:xfrm>
        </p:spPr>
        <p:txBody>
          <a:bodyPr/>
          <a:lstStyle>
            <a:lvl1pPr>
              <a:defRPr sz="36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p:cNvSpPr>
            <a:spLocks noGrp="1"/>
          </p:cNvSpPr>
          <p:nvPr>
            <p:ph type="dt" sz="half" idx="10"/>
          </p:nvPr>
        </p:nvSpPr>
        <p:spPr/>
        <p:txBody>
          <a:bodyPr/>
          <a:lstStyle/>
          <a:p>
            <a:fld id="{1D8BD707-D9CF-40AE-B4C6-C98DA3205C09}" type="datetimeFigureOut">
              <a:rPr lang="en-US" smtClean="0"/>
              <a:pPr/>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1475433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Date Placeholder 2"/>
          <p:cNvSpPr>
            <a:spLocks noGrp="1"/>
          </p:cNvSpPr>
          <p:nvPr>
            <p:ph type="dt" sz="half" idx="10"/>
          </p:nvPr>
        </p:nvSpPr>
        <p:spPr/>
        <p:txBody>
          <a:bodyPr/>
          <a:lstStyle/>
          <a:p>
            <a:fld id="{1D8BD707-D9CF-40AE-B4C6-C98DA3205C09}" type="datetimeFigureOut">
              <a:rPr lang="en-US" smtClean="0"/>
              <a:pPr/>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1589144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3780424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2" y="409575"/>
            <a:ext cx="6016626" cy="1743075"/>
          </a:xfrm>
        </p:spPr>
        <p:txBody>
          <a:bodyPr anchor="b"/>
          <a:lstStyle>
            <a:lvl1pPr algn="l">
              <a:defRPr sz="3000" b="1"/>
            </a:lvl1pPr>
          </a:lstStyle>
          <a:p>
            <a:r>
              <a:rPr lang="en-GB"/>
              <a:t>Click to edit Master title style</a:t>
            </a:r>
            <a:endParaRPr lang="en-IN"/>
          </a:p>
        </p:txBody>
      </p:sp>
      <p:sp>
        <p:nvSpPr>
          <p:cNvPr id="3" name="Content Placeholder 2"/>
          <p:cNvSpPr>
            <a:spLocks noGrp="1"/>
          </p:cNvSpPr>
          <p:nvPr>
            <p:ph idx="1"/>
          </p:nvPr>
        </p:nvSpPr>
        <p:spPr>
          <a:xfrm>
            <a:off x="7150100" y="409577"/>
            <a:ext cx="10223501" cy="877967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p:cNvSpPr>
            <a:spLocks noGrp="1"/>
          </p:cNvSpPr>
          <p:nvPr>
            <p:ph type="body" sz="half" idx="2"/>
          </p:nvPr>
        </p:nvSpPr>
        <p:spPr>
          <a:xfrm>
            <a:off x="914402" y="2152652"/>
            <a:ext cx="6016626" cy="7036595"/>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2174859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7200900"/>
            <a:ext cx="10972800" cy="850107"/>
          </a:xfrm>
        </p:spPr>
        <p:txBody>
          <a:bodyPr anchor="b"/>
          <a:lstStyle>
            <a:lvl1pPr algn="l">
              <a:defRPr sz="3000" b="1"/>
            </a:lvl1pPr>
          </a:lstStyle>
          <a:p>
            <a:r>
              <a:rPr lang="en-GB"/>
              <a:t>Click to edit Master title style</a:t>
            </a:r>
            <a:endParaRPr lang="en-IN"/>
          </a:p>
        </p:txBody>
      </p:sp>
      <p:sp>
        <p:nvSpPr>
          <p:cNvPr id="3" name="Picture Placeholder 2"/>
          <p:cNvSpPr>
            <a:spLocks noGrp="1"/>
          </p:cNvSpPr>
          <p:nvPr>
            <p:ph type="pic" idx="1"/>
          </p:nvPr>
        </p:nvSpPr>
        <p:spPr>
          <a:xfrm>
            <a:off x="3584576" y="919163"/>
            <a:ext cx="10972800" cy="6172200"/>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GB"/>
              <a:t>Click icon to add picture</a:t>
            </a:r>
            <a:endParaRPr lang="en-IN"/>
          </a:p>
        </p:txBody>
      </p:sp>
      <p:sp>
        <p:nvSpPr>
          <p:cNvPr id="4" name="Text Placeholder 3"/>
          <p:cNvSpPr>
            <a:spLocks noGrp="1"/>
          </p:cNvSpPr>
          <p:nvPr>
            <p:ph type="body" sz="half" idx="2"/>
          </p:nvPr>
        </p:nvSpPr>
        <p:spPr>
          <a:xfrm>
            <a:off x="3584576" y="8051007"/>
            <a:ext cx="10972800" cy="1207293"/>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3009206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3766386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411959"/>
            <a:ext cx="4114800" cy="8777288"/>
          </a:xfrm>
        </p:spPr>
        <p:txBody>
          <a:bodyPr vert="eaVert"/>
          <a:lstStyle/>
          <a:p>
            <a:r>
              <a:rPr lang="en-GB"/>
              <a:t>Click to edit Master title style</a:t>
            </a:r>
            <a:endParaRPr lang="en-IN"/>
          </a:p>
        </p:txBody>
      </p:sp>
      <p:sp>
        <p:nvSpPr>
          <p:cNvPr id="3" name="Vertical Text Placeholder 2"/>
          <p:cNvSpPr>
            <a:spLocks noGrp="1"/>
          </p:cNvSpPr>
          <p:nvPr>
            <p:ph type="body" orient="vert" idx="1"/>
          </p:nvPr>
        </p:nvSpPr>
        <p:spPr>
          <a:xfrm>
            <a:off x="914400" y="411959"/>
            <a:ext cx="12039600" cy="877728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7" y="-41076"/>
            <a:ext cx="18361686" cy="10328076"/>
          </a:xfrm>
          <a:prstGeom prst="rect">
            <a:avLst/>
          </a:prstGeom>
        </p:spPr>
      </p:pic>
    </p:spTree>
    <p:extLst>
      <p:ext uri="{BB962C8B-B14F-4D97-AF65-F5344CB8AC3E}">
        <p14:creationId xmlns:p14="http://schemas.microsoft.com/office/powerpoint/2010/main" val="3523427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Text Placeholder 2"/>
          <p:cNvSpPr>
            <a:spLocks noGrp="1"/>
          </p:cNvSpPr>
          <p:nvPr>
            <p:ph type="body"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9384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411957"/>
            <a:ext cx="16459200" cy="1714500"/>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p:cNvSpPr>
            <a:spLocks noGrp="1"/>
          </p:cNvSpPr>
          <p:nvPr>
            <p:ph type="body" idx="1"/>
          </p:nvPr>
        </p:nvSpPr>
        <p:spPr>
          <a:xfrm>
            <a:off x="914400" y="2400302"/>
            <a:ext cx="16459200" cy="67889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p:cNvSpPr>
            <a:spLocks noGrp="1"/>
          </p:cNvSpPr>
          <p:nvPr>
            <p:ph type="dt" sz="half" idx="2"/>
          </p:nvPr>
        </p:nvSpPr>
        <p:spPr>
          <a:xfrm>
            <a:off x="914400" y="9534527"/>
            <a:ext cx="42672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5/2/2026</a:t>
            </a:fld>
            <a:endParaRPr lang="en-US"/>
          </a:p>
        </p:txBody>
      </p:sp>
      <p:sp>
        <p:nvSpPr>
          <p:cNvPr id="5" name="Footer Placeholder 4"/>
          <p:cNvSpPr>
            <a:spLocks noGrp="1"/>
          </p:cNvSpPr>
          <p:nvPr>
            <p:ph type="ftr" sz="quarter" idx="3"/>
          </p:nvPr>
        </p:nvSpPr>
        <p:spPr>
          <a:xfrm>
            <a:off x="6248400" y="9534527"/>
            <a:ext cx="5791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9534527"/>
            <a:ext cx="42672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459902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1371600" rtl="0" eaLnBrk="1" latinLnBrk="0" hangingPunct="1">
        <a:spcBef>
          <a:spcPct val="0"/>
        </a:spcBef>
        <a:buNone/>
        <a:defRPr sz="6600" kern="1200">
          <a:solidFill>
            <a:schemeClr val="tx1"/>
          </a:solidFill>
          <a:latin typeface="+mj-lt"/>
          <a:ea typeface="+mj-ea"/>
          <a:cs typeface="+mj-cs"/>
        </a:defRPr>
      </a:lvl1pPr>
    </p:titleStyle>
    <p:bodyStyle>
      <a:lvl1pPr marL="514350" indent="-514350" algn="l" defTabSz="1371600" rtl="0" eaLnBrk="1" latinLnBrk="0" hangingPunct="1">
        <a:spcBef>
          <a:spcPct val="20000"/>
        </a:spcBef>
        <a:buFont typeface="Arial" panose="020B0604020202020204" pitchFamily="34" charset="0"/>
        <a:buChar char="•"/>
        <a:defRPr sz="4800" kern="1200">
          <a:solidFill>
            <a:schemeClr val="tx1"/>
          </a:solidFill>
          <a:latin typeface="+mn-lt"/>
          <a:ea typeface="+mn-ea"/>
          <a:cs typeface="+mn-cs"/>
        </a:defRPr>
      </a:lvl1pPr>
      <a:lvl2pPr marL="1114425" indent="-428625" algn="l" defTabSz="1371600" rtl="0" eaLnBrk="1" latinLnBrk="0" hangingPunct="1">
        <a:spcBef>
          <a:spcPct val="20000"/>
        </a:spcBef>
        <a:buFont typeface="Arial" panose="020B0604020202020204" pitchFamily="34" charset="0"/>
        <a:buChar char="–"/>
        <a:defRPr sz="4200" kern="1200">
          <a:solidFill>
            <a:schemeClr val="tx1"/>
          </a:solidFill>
          <a:latin typeface="+mn-lt"/>
          <a:ea typeface="+mn-ea"/>
          <a:cs typeface="+mn-cs"/>
        </a:defRPr>
      </a:lvl2pPr>
      <a:lvl3pPr marL="1714500" indent="-342900" algn="l" defTabSz="1371600"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3pPr>
      <a:lvl4pPr marL="24003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4pPr>
      <a:lvl5pPr marL="30861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5pPr>
      <a:lvl6pPr marL="37719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6pPr>
      <a:lvl7pPr marL="44577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7pPr>
      <a:lvl8pPr marL="51435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8pPr>
      <a:lvl9pPr marL="5829300" indent="-342900" algn="l" defTabSz="13716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E2BF-2604-84EF-AD56-D22C5784462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6362CD5-D92D-2C6B-18E1-465D2F29E19B}"/>
              </a:ext>
            </a:extLst>
          </p:cNvPr>
          <p:cNvGrpSpPr/>
          <p:nvPr/>
        </p:nvGrpSpPr>
        <p:grpSpPr>
          <a:xfrm>
            <a:off x="-5028099" y="1539161"/>
            <a:ext cx="7719139" cy="7719139"/>
            <a:chOff x="0" y="0"/>
            <a:chExt cx="812800" cy="812800"/>
          </a:xfrm>
        </p:grpSpPr>
        <p:sp>
          <p:nvSpPr>
            <p:cNvPr id="3" name="Freeform 3">
              <a:extLst>
                <a:ext uri="{FF2B5EF4-FFF2-40B4-BE49-F238E27FC236}">
                  <a16:creationId xmlns:a16="http://schemas.microsoft.com/office/drawing/2014/main" id="{470D5423-9026-9732-F286-6A3EF13169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 name="TextBox 4">
              <a:extLst>
                <a:ext uri="{FF2B5EF4-FFF2-40B4-BE49-F238E27FC236}">
                  <a16:creationId xmlns:a16="http://schemas.microsoft.com/office/drawing/2014/main" id="{040991EA-0AD4-1BF8-1238-78FFD1D9EEA4}"/>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2E053723-F31C-E60F-CDBF-93EF6C3D5905}"/>
              </a:ext>
            </a:extLst>
          </p:cNvPr>
          <p:cNvGrpSpPr/>
          <p:nvPr/>
        </p:nvGrpSpPr>
        <p:grpSpPr>
          <a:xfrm>
            <a:off x="15596960" y="1539161"/>
            <a:ext cx="7719139" cy="7719139"/>
            <a:chOff x="0" y="0"/>
            <a:chExt cx="812800" cy="812800"/>
          </a:xfrm>
        </p:grpSpPr>
        <p:sp>
          <p:nvSpPr>
            <p:cNvPr id="6" name="Freeform 6">
              <a:extLst>
                <a:ext uri="{FF2B5EF4-FFF2-40B4-BE49-F238E27FC236}">
                  <a16:creationId xmlns:a16="http://schemas.microsoft.com/office/drawing/2014/main" id="{8976DD82-E98A-0E1F-3094-E6EA7DEA732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7" name="TextBox 7">
              <a:extLst>
                <a:ext uri="{FF2B5EF4-FFF2-40B4-BE49-F238E27FC236}">
                  <a16:creationId xmlns:a16="http://schemas.microsoft.com/office/drawing/2014/main" id="{23E81F68-AD9E-27B4-DC5B-1F6211FC7DE7}"/>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10" name="Group 10">
            <a:extLst>
              <a:ext uri="{FF2B5EF4-FFF2-40B4-BE49-F238E27FC236}">
                <a16:creationId xmlns:a16="http://schemas.microsoft.com/office/drawing/2014/main" id="{75FF9005-77E1-9F89-B846-99A9DE4AB681}"/>
              </a:ext>
            </a:extLst>
          </p:cNvPr>
          <p:cNvGrpSpPr/>
          <p:nvPr/>
        </p:nvGrpSpPr>
        <p:grpSpPr>
          <a:xfrm>
            <a:off x="1030217" y="1013257"/>
            <a:ext cx="860074" cy="333578"/>
            <a:chOff x="0" y="0"/>
            <a:chExt cx="1146765" cy="444771"/>
          </a:xfrm>
        </p:grpSpPr>
        <p:grpSp>
          <p:nvGrpSpPr>
            <p:cNvPr id="11" name="Group 11">
              <a:extLst>
                <a:ext uri="{FF2B5EF4-FFF2-40B4-BE49-F238E27FC236}">
                  <a16:creationId xmlns:a16="http://schemas.microsoft.com/office/drawing/2014/main" id="{078801AB-D660-E7E8-D5B9-A44975EBBCB2}"/>
                </a:ext>
              </a:extLst>
            </p:cNvPr>
            <p:cNvGrpSpPr/>
            <p:nvPr/>
          </p:nvGrpSpPr>
          <p:grpSpPr>
            <a:xfrm>
              <a:off x="0" y="0"/>
              <a:ext cx="444771" cy="444771"/>
              <a:chOff x="0" y="0"/>
              <a:chExt cx="812800" cy="812800"/>
            </a:xfrm>
          </p:grpSpPr>
          <p:sp>
            <p:nvSpPr>
              <p:cNvPr id="12" name="Freeform 12">
                <a:extLst>
                  <a:ext uri="{FF2B5EF4-FFF2-40B4-BE49-F238E27FC236}">
                    <a16:creationId xmlns:a16="http://schemas.microsoft.com/office/drawing/2014/main" id="{5EDB9C6F-9344-638F-38D7-8B8C3B4092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3" name="TextBox 13">
                <a:extLst>
                  <a:ext uri="{FF2B5EF4-FFF2-40B4-BE49-F238E27FC236}">
                    <a16:creationId xmlns:a16="http://schemas.microsoft.com/office/drawing/2014/main" id="{EC874EC7-23FC-4C0B-40F6-17501EAF5A45}"/>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14" name="Group 14">
              <a:extLst>
                <a:ext uri="{FF2B5EF4-FFF2-40B4-BE49-F238E27FC236}">
                  <a16:creationId xmlns:a16="http://schemas.microsoft.com/office/drawing/2014/main" id="{84ED42A7-FB7D-9D6E-FA74-A332FBC2577A}"/>
                </a:ext>
              </a:extLst>
            </p:cNvPr>
            <p:cNvGrpSpPr/>
            <p:nvPr/>
          </p:nvGrpSpPr>
          <p:grpSpPr>
            <a:xfrm>
              <a:off x="701994" y="0"/>
              <a:ext cx="444771" cy="444771"/>
              <a:chOff x="0" y="0"/>
              <a:chExt cx="812800" cy="812800"/>
            </a:xfrm>
          </p:grpSpPr>
          <p:sp>
            <p:nvSpPr>
              <p:cNvPr id="15" name="Freeform 15">
                <a:extLst>
                  <a:ext uri="{FF2B5EF4-FFF2-40B4-BE49-F238E27FC236}">
                    <a16:creationId xmlns:a16="http://schemas.microsoft.com/office/drawing/2014/main" id="{504084DA-3428-3382-FF18-BB3BC5D5AC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6" name="TextBox 16">
                <a:extLst>
                  <a:ext uri="{FF2B5EF4-FFF2-40B4-BE49-F238E27FC236}">
                    <a16:creationId xmlns:a16="http://schemas.microsoft.com/office/drawing/2014/main" id="{BF5D1E70-FE23-57E2-0EC3-89EC7964F9DF}"/>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sp>
        <p:nvSpPr>
          <p:cNvPr id="25" name="TextBox 25">
            <a:extLst>
              <a:ext uri="{FF2B5EF4-FFF2-40B4-BE49-F238E27FC236}">
                <a16:creationId xmlns:a16="http://schemas.microsoft.com/office/drawing/2014/main" id="{37BBCD16-DC71-16A2-F29E-89D49FEACD6F}"/>
              </a:ext>
            </a:extLst>
          </p:cNvPr>
          <p:cNvSpPr txBox="1"/>
          <p:nvPr/>
        </p:nvSpPr>
        <p:spPr>
          <a:xfrm>
            <a:off x="4384438" y="3009900"/>
            <a:ext cx="9519124" cy="3248069"/>
          </a:xfrm>
          <a:prstGeom prst="rect">
            <a:avLst/>
          </a:prstGeom>
        </p:spPr>
        <p:txBody>
          <a:bodyPr wrap="square" lIns="0" tIns="0" rIns="0" bIns="0" rtlCol="0" anchor="t">
            <a:spAutoFit/>
          </a:bodyPr>
          <a:lstStyle/>
          <a:p>
            <a:pPr algn="ctr">
              <a:lnSpc>
                <a:spcPts val="6357"/>
              </a:lnSpc>
              <a:spcBef>
                <a:spcPct val="0"/>
              </a:spcBef>
            </a:pPr>
            <a:r>
              <a:rPr lang="en-US" sz="4800" dirty="0">
                <a:latin typeface="Red Hat Display Bold" panose="020B0604020202020204" charset="0"/>
              </a:rPr>
              <a:t>A Deception-Driven Multimodal AI System for Intelligent Scam Detection and Adversarial Engagement</a:t>
            </a:r>
            <a:endParaRPr lang="en-US" sz="4540" b="1" spc="1362" dirty="0">
              <a:solidFill>
                <a:srgbClr val="000000"/>
              </a:solidFill>
              <a:latin typeface="Red Hat Display Bold" panose="020B0604020202020204" charset="0"/>
              <a:ea typeface="Red Hat Display Bold"/>
              <a:cs typeface="Red Hat Display Bold"/>
              <a:sym typeface="Red Hat Display Bold"/>
            </a:endParaRPr>
          </a:p>
        </p:txBody>
      </p:sp>
      <p:sp>
        <p:nvSpPr>
          <p:cNvPr id="26" name="TextBox 26">
            <a:extLst>
              <a:ext uri="{FF2B5EF4-FFF2-40B4-BE49-F238E27FC236}">
                <a16:creationId xmlns:a16="http://schemas.microsoft.com/office/drawing/2014/main" id="{C6B22F55-C75B-85D3-AEEB-14E6C5F0B1C3}"/>
              </a:ext>
            </a:extLst>
          </p:cNvPr>
          <p:cNvSpPr txBox="1"/>
          <p:nvPr/>
        </p:nvSpPr>
        <p:spPr>
          <a:xfrm>
            <a:off x="2691039" y="8066649"/>
            <a:ext cx="5279018" cy="1256562"/>
          </a:xfrm>
          <a:prstGeom prst="rect">
            <a:avLst/>
          </a:prstGeom>
        </p:spPr>
        <p:txBody>
          <a:bodyPr wrap="square" lIns="0" tIns="0" rIns="0" bIns="0" rtlCol="0" anchor="t">
            <a:spAutoFit/>
          </a:bodyPr>
          <a:lstStyle/>
          <a:p>
            <a:pPr>
              <a:lnSpc>
                <a:spcPts val="2520"/>
              </a:lnSpc>
              <a:spcBef>
                <a:spcPct val="0"/>
              </a:spcBef>
            </a:pPr>
            <a:r>
              <a:rPr lang="en-US" sz="1800" dirty="0">
                <a:solidFill>
                  <a:srgbClr val="000000"/>
                </a:solidFill>
                <a:latin typeface="Inter"/>
                <a:ea typeface="Inter"/>
                <a:cs typeface="Inter"/>
                <a:sym typeface="Inter"/>
              </a:rPr>
              <a:t>Under the guidance of,</a:t>
            </a:r>
            <a:br>
              <a:rPr lang="en-US" sz="1800" dirty="0">
                <a:solidFill>
                  <a:srgbClr val="000000"/>
                </a:solidFill>
                <a:latin typeface="Inter"/>
                <a:ea typeface="Inter"/>
                <a:cs typeface="Inter"/>
                <a:sym typeface="Inter"/>
              </a:rPr>
            </a:br>
            <a:r>
              <a:rPr lang="en-US" sz="1800" dirty="0">
                <a:solidFill>
                  <a:srgbClr val="000000"/>
                </a:solidFill>
                <a:latin typeface="Inter"/>
                <a:ea typeface="Inter"/>
                <a:cs typeface="Inter"/>
                <a:sym typeface="Inter"/>
              </a:rPr>
              <a:t>	Dr. Prajna S</a:t>
            </a:r>
          </a:p>
          <a:p>
            <a:pPr>
              <a:lnSpc>
                <a:spcPts val="2520"/>
              </a:lnSpc>
              <a:spcBef>
                <a:spcPct val="0"/>
              </a:spcBef>
            </a:pPr>
            <a:r>
              <a:rPr lang="en-US" dirty="0">
                <a:solidFill>
                  <a:srgbClr val="000000"/>
                </a:solidFill>
                <a:latin typeface="Inter"/>
                <a:ea typeface="Inter"/>
                <a:cs typeface="Inter"/>
                <a:sym typeface="Inter"/>
              </a:rPr>
              <a:t>	Assistant Professor</a:t>
            </a:r>
          </a:p>
          <a:p>
            <a:pPr>
              <a:lnSpc>
                <a:spcPts val="2520"/>
              </a:lnSpc>
              <a:spcBef>
                <a:spcPct val="0"/>
              </a:spcBef>
            </a:pPr>
            <a:r>
              <a:rPr lang="en-US" sz="1800" dirty="0">
                <a:solidFill>
                  <a:srgbClr val="000000"/>
                </a:solidFill>
                <a:latin typeface="Inter"/>
                <a:ea typeface="Inter"/>
                <a:cs typeface="Inter"/>
                <a:sym typeface="Inter"/>
              </a:rPr>
              <a:t>	Department of </a:t>
            </a:r>
            <a:r>
              <a:rPr lang="en-US" dirty="0">
                <a:solidFill>
                  <a:srgbClr val="000000"/>
                </a:solidFill>
                <a:latin typeface="Inter"/>
                <a:ea typeface="Inter"/>
                <a:cs typeface="Inter"/>
                <a:sym typeface="Inter"/>
              </a:rPr>
              <a:t>computer application</a:t>
            </a:r>
            <a:endParaRPr lang="en-US" sz="1800" dirty="0">
              <a:solidFill>
                <a:srgbClr val="000000"/>
              </a:solidFill>
              <a:latin typeface="Inter"/>
              <a:ea typeface="Inter"/>
              <a:cs typeface="Inter"/>
              <a:sym typeface="Inter"/>
            </a:endParaRPr>
          </a:p>
        </p:txBody>
      </p:sp>
      <p:sp>
        <p:nvSpPr>
          <p:cNvPr id="28" name="TextBox 26">
            <a:extLst>
              <a:ext uri="{FF2B5EF4-FFF2-40B4-BE49-F238E27FC236}">
                <a16:creationId xmlns:a16="http://schemas.microsoft.com/office/drawing/2014/main" id="{E00A2231-BB5A-B93F-3A55-5AF7AEE093C6}"/>
              </a:ext>
            </a:extLst>
          </p:cNvPr>
          <p:cNvSpPr txBox="1"/>
          <p:nvPr/>
        </p:nvSpPr>
        <p:spPr>
          <a:xfrm>
            <a:off x="12496800" y="8066650"/>
            <a:ext cx="3305249" cy="935962"/>
          </a:xfrm>
          <a:prstGeom prst="rect">
            <a:avLst/>
          </a:prstGeom>
        </p:spPr>
        <p:txBody>
          <a:bodyPr wrap="square" lIns="0" tIns="0" rIns="0" bIns="0" rtlCol="0" anchor="t">
            <a:spAutoFit/>
          </a:bodyPr>
          <a:lstStyle/>
          <a:p>
            <a:pPr>
              <a:lnSpc>
                <a:spcPts val="2520"/>
              </a:lnSpc>
              <a:spcBef>
                <a:spcPct val="0"/>
              </a:spcBef>
            </a:pPr>
            <a:r>
              <a:rPr lang="en-US" sz="1800" dirty="0">
                <a:solidFill>
                  <a:srgbClr val="000000"/>
                </a:solidFill>
                <a:latin typeface="Inter"/>
                <a:ea typeface="Inter"/>
                <a:cs typeface="Inter"/>
                <a:sym typeface="Inter"/>
              </a:rPr>
              <a:t>Submitted by,</a:t>
            </a:r>
            <a:br>
              <a:rPr lang="en-US" sz="1800" dirty="0">
                <a:solidFill>
                  <a:srgbClr val="000000"/>
                </a:solidFill>
                <a:latin typeface="Inter"/>
                <a:ea typeface="Inter"/>
                <a:cs typeface="Inter"/>
                <a:sym typeface="Inter"/>
              </a:rPr>
            </a:br>
            <a:r>
              <a:rPr lang="en-US" sz="1800" dirty="0">
                <a:solidFill>
                  <a:srgbClr val="000000"/>
                </a:solidFill>
                <a:latin typeface="Inter"/>
                <a:ea typeface="Inter"/>
                <a:cs typeface="Inter"/>
                <a:sym typeface="Inter"/>
              </a:rPr>
              <a:t>	Santhosh G Rao</a:t>
            </a:r>
          </a:p>
          <a:p>
            <a:pPr>
              <a:lnSpc>
                <a:spcPts val="2520"/>
              </a:lnSpc>
              <a:spcBef>
                <a:spcPct val="0"/>
              </a:spcBef>
            </a:pPr>
            <a:r>
              <a:rPr lang="en-US" dirty="0">
                <a:solidFill>
                  <a:srgbClr val="000000"/>
                </a:solidFill>
                <a:latin typeface="Inter"/>
                <a:ea typeface="Inter"/>
                <a:cs typeface="Inter"/>
                <a:sym typeface="Inter"/>
              </a:rPr>
              <a:t>	02JST24PMC041</a:t>
            </a:r>
            <a:endParaRPr lang="en-US" sz="1800" dirty="0">
              <a:solidFill>
                <a:srgbClr val="000000"/>
              </a:solidFill>
              <a:latin typeface="Inter"/>
              <a:ea typeface="Inter"/>
              <a:cs typeface="Inter"/>
              <a:sym typeface="Inter"/>
            </a:endParaRPr>
          </a:p>
        </p:txBody>
      </p:sp>
    </p:spTree>
    <p:extLst>
      <p:ext uri="{BB962C8B-B14F-4D97-AF65-F5344CB8AC3E}">
        <p14:creationId xmlns:p14="http://schemas.microsoft.com/office/powerpoint/2010/main" val="13331839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1"/>
          <p:cNvSpPr txBox="1"/>
          <p:nvPr/>
        </p:nvSpPr>
        <p:spPr>
          <a:xfrm>
            <a:off x="1028700" y="3358220"/>
            <a:ext cx="7782254" cy="1934210"/>
          </a:xfrm>
          <a:prstGeom prst="rect">
            <a:avLst/>
          </a:prstGeom>
        </p:spPr>
        <p:txBody>
          <a:bodyPr lIns="0" tIns="0" rIns="0" bIns="0" rtlCol="0" anchor="t">
            <a:spAutoFit/>
          </a:bodyPr>
          <a:lstStyle/>
          <a:p>
            <a:pPr>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THE RISE OF DIGITAL DECEPTION</a:t>
            </a:r>
          </a:p>
        </p:txBody>
      </p:sp>
      <p:sp>
        <p:nvSpPr>
          <p:cNvPr id="12" name="TextBox 12"/>
          <p:cNvSpPr txBox="1"/>
          <p:nvPr/>
        </p:nvSpPr>
        <p:spPr>
          <a:xfrm>
            <a:off x="1028700" y="5829300"/>
            <a:ext cx="7303160" cy="1256562"/>
          </a:xfrm>
          <a:prstGeom prst="rect">
            <a:avLst/>
          </a:prstGeom>
        </p:spPr>
        <p:txBody>
          <a:bodyPr lIns="0" tIns="0" rIns="0" bIns="0" rtlCol="0" anchor="t">
            <a:spAutoFit/>
          </a:bodyPr>
          <a:lstStyle/>
          <a:p>
            <a:pPr algn="just">
              <a:lnSpc>
                <a:spcPts val="2520"/>
              </a:lnSpc>
              <a:spcBef>
                <a:spcPct val="0"/>
              </a:spcBef>
            </a:pPr>
            <a:r>
              <a:rPr lang="en-US" sz="2000" dirty="0">
                <a:solidFill>
                  <a:srgbClr val="000000"/>
                </a:solidFill>
                <a:latin typeface="Inter"/>
                <a:ea typeface="Inter"/>
                <a:cs typeface="Inter"/>
                <a:sym typeface="Inter"/>
              </a:rPr>
              <a:t>Rapid increase in online scams (SMS, email, calls) </a:t>
            </a:r>
          </a:p>
          <a:p>
            <a:pPr algn="just">
              <a:lnSpc>
                <a:spcPts val="2520"/>
              </a:lnSpc>
              <a:spcBef>
                <a:spcPct val="0"/>
              </a:spcBef>
            </a:pPr>
            <a:r>
              <a:rPr lang="en-US" sz="2000" dirty="0">
                <a:solidFill>
                  <a:srgbClr val="000000"/>
                </a:solidFill>
                <a:latin typeface="Inter"/>
                <a:ea typeface="Inter"/>
                <a:cs typeface="Inter"/>
                <a:sym typeface="Inter"/>
              </a:rPr>
              <a:t>Attackers use social engineering techniques </a:t>
            </a:r>
          </a:p>
          <a:p>
            <a:pPr algn="just">
              <a:lnSpc>
                <a:spcPts val="2520"/>
              </a:lnSpc>
              <a:spcBef>
                <a:spcPct val="0"/>
              </a:spcBef>
            </a:pPr>
            <a:r>
              <a:rPr lang="en-US" sz="2000" dirty="0">
                <a:solidFill>
                  <a:srgbClr val="000000"/>
                </a:solidFill>
                <a:latin typeface="Inter"/>
                <a:ea typeface="Inter"/>
                <a:cs typeface="Inter"/>
                <a:sym typeface="Inter"/>
              </a:rPr>
              <a:t>Users are primary targets of manipulation </a:t>
            </a:r>
          </a:p>
          <a:p>
            <a:pPr algn="just">
              <a:lnSpc>
                <a:spcPts val="2520"/>
              </a:lnSpc>
              <a:spcBef>
                <a:spcPct val="0"/>
              </a:spcBef>
            </a:pPr>
            <a:r>
              <a:rPr lang="en-US" sz="2000" dirty="0">
                <a:solidFill>
                  <a:srgbClr val="000000"/>
                </a:solidFill>
                <a:latin typeface="Inter"/>
                <a:ea typeface="Inter"/>
                <a:cs typeface="Inter"/>
                <a:sym typeface="Inter"/>
              </a:rPr>
              <a:t>Traditional systems fail to adapt dynamically</a:t>
            </a:r>
          </a:p>
        </p:txBody>
      </p:sp>
      <p:sp>
        <p:nvSpPr>
          <p:cNvPr id="13" name="TextBox 13"/>
          <p:cNvSpPr txBox="1"/>
          <p:nvPr/>
        </p:nvSpPr>
        <p:spPr>
          <a:xfrm>
            <a:off x="1028700" y="981075"/>
            <a:ext cx="3512536"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INTRODUCTION</a:t>
            </a:r>
          </a:p>
        </p:txBody>
      </p:sp>
      <p:sp>
        <p:nvSpPr>
          <p:cNvPr id="14" name="TextBox 14"/>
          <p:cNvSpPr txBox="1"/>
          <p:nvPr/>
        </p:nvSpPr>
        <p:spPr>
          <a:xfrm>
            <a:off x="15544800" y="9715500"/>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02</a:t>
            </a:r>
          </a:p>
        </p:txBody>
      </p:sp>
      <p:pic>
        <p:nvPicPr>
          <p:cNvPr id="16" name="Picture 15">
            <a:extLst>
              <a:ext uri="{FF2B5EF4-FFF2-40B4-BE49-F238E27FC236}">
                <a16:creationId xmlns:a16="http://schemas.microsoft.com/office/drawing/2014/main" id="{FB255FB5-D9DC-3648-0AE8-48A34AABE13C}"/>
              </a:ext>
            </a:extLst>
          </p:cNvPr>
          <p:cNvPicPr>
            <a:picLocks noChangeAspect="1"/>
          </p:cNvPicPr>
          <p:nvPr/>
        </p:nvPicPr>
        <p:blipFill>
          <a:blip r:embed="rId2">
            <a:extLst>
              <a:ext uri="{28A0092B-C50C-407E-A947-70E740481C1C}">
                <a14:useLocalDpi xmlns:a14="http://schemas.microsoft.com/office/drawing/2010/main" val="0"/>
              </a:ext>
            </a:extLst>
          </a:blip>
          <a:srcRect l="19296" t="1156" r="22779" b="2397"/>
          <a:stretch>
            <a:fillRect/>
          </a:stretch>
        </p:blipFill>
        <p:spPr>
          <a:xfrm>
            <a:off x="10242085" y="2273289"/>
            <a:ext cx="6320590" cy="5740422"/>
          </a:xfrm>
          <a:prstGeom prst="roundRect">
            <a:avLst>
              <a:gd name="adj" fmla="val 9444"/>
            </a:avLst>
          </a:prstGeom>
          <a:ln>
            <a:noFill/>
          </a:ln>
          <a:effectLst>
            <a:outerShdw blurRad="76200" dist="38100" dir="7800000" algn="tl" rotWithShape="0">
              <a:srgbClr val="000000">
                <a:alpha val="40000"/>
              </a:srgbClr>
            </a:outerShdw>
          </a:effectLst>
        </p:spPr>
      </p:pic>
      <p:grpSp>
        <p:nvGrpSpPr>
          <p:cNvPr id="19" name="Group 2">
            <a:extLst>
              <a:ext uri="{FF2B5EF4-FFF2-40B4-BE49-F238E27FC236}">
                <a16:creationId xmlns:a16="http://schemas.microsoft.com/office/drawing/2014/main" id="{0D20B552-22E0-C67C-4D50-8FF9CEA1EE78}"/>
              </a:ext>
            </a:extLst>
          </p:cNvPr>
          <p:cNvGrpSpPr/>
          <p:nvPr/>
        </p:nvGrpSpPr>
        <p:grpSpPr>
          <a:xfrm>
            <a:off x="-8034042" y="1539161"/>
            <a:ext cx="7719139" cy="7719139"/>
            <a:chOff x="0" y="0"/>
            <a:chExt cx="812800" cy="812800"/>
          </a:xfrm>
        </p:grpSpPr>
        <p:sp>
          <p:nvSpPr>
            <p:cNvPr id="20" name="Freeform 3">
              <a:extLst>
                <a:ext uri="{FF2B5EF4-FFF2-40B4-BE49-F238E27FC236}">
                  <a16:creationId xmlns:a16="http://schemas.microsoft.com/office/drawing/2014/main" id="{A7AD2E15-CDF1-BDC4-75C9-282C5CE039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1" name="TextBox 4">
              <a:extLst>
                <a:ext uri="{FF2B5EF4-FFF2-40B4-BE49-F238E27FC236}">
                  <a16:creationId xmlns:a16="http://schemas.microsoft.com/office/drawing/2014/main" id="{5FCFA1CC-D0C5-71D3-C3A6-603EBE6472C0}"/>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22" name="Group 5">
            <a:extLst>
              <a:ext uri="{FF2B5EF4-FFF2-40B4-BE49-F238E27FC236}">
                <a16:creationId xmlns:a16="http://schemas.microsoft.com/office/drawing/2014/main" id="{C2BAF8A9-7BA8-36D8-964C-A41344759B0F}"/>
              </a:ext>
            </a:extLst>
          </p:cNvPr>
          <p:cNvGrpSpPr/>
          <p:nvPr/>
        </p:nvGrpSpPr>
        <p:grpSpPr>
          <a:xfrm>
            <a:off x="18589048" y="1539161"/>
            <a:ext cx="7719139" cy="7719139"/>
            <a:chOff x="0" y="0"/>
            <a:chExt cx="812800" cy="812800"/>
          </a:xfrm>
        </p:grpSpPr>
        <p:sp>
          <p:nvSpPr>
            <p:cNvPr id="23" name="Freeform 6">
              <a:extLst>
                <a:ext uri="{FF2B5EF4-FFF2-40B4-BE49-F238E27FC236}">
                  <a16:creationId xmlns:a16="http://schemas.microsoft.com/office/drawing/2014/main" id="{1BBA3D82-E2CA-7C48-835D-952C140EE6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4" name="TextBox 7">
              <a:extLst>
                <a:ext uri="{FF2B5EF4-FFF2-40B4-BE49-F238E27FC236}">
                  <a16:creationId xmlns:a16="http://schemas.microsoft.com/office/drawing/2014/main" id="{C73457E3-DCBF-C513-D3E4-9926ABD96ACD}"/>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25" name="Group 10">
            <a:extLst>
              <a:ext uri="{FF2B5EF4-FFF2-40B4-BE49-F238E27FC236}">
                <a16:creationId xmlns:a16="http://schemas.microsoft.com/office/drawing/2014/main" id="{3238D469-A244-AF66-B9C3-005ADEC33790}"/>
              </a:ext>
            </a:extLst>
          </p:cNvPr>
          <p:cNvGrpSpPr/>
          <p:nvPr/>
        </p:nvGrpSpPr>
        <p:grpSpPr>
          <a:xfrm>
            <a:off x="-1174977" y="342900"/>
            <a:ext cx="860074" cy="333578"/>
            <a:chOff x="0" y="0"/>
            <a:chExt cx="1146765" cy="444771"/>
          </a:xfrm>
        </p:grpSpPr>
        <p:grpSp>
          <p:nvGrpSpPr>
            <p:cNvPr id="26" name="Group 11">
              <a:extLst>
                <a:ext uri="{FF2B5EF4-FFF2-40B4-BE49-F238E27FC236}">
                  <a16:creationId xmlns:a16="http://schemas.microsoft.com/office/drawing/2014/main" id="{41B90252-7A95-4375-0A40-FDAF721C3DA8}"/>
                </a:ext>
              </a:extLst>
            </p:cNvPr>
            <p:cNvGrpSpPr/>
            <p:nvPr/>
          </p:nvGrpSpPr>
          <p:grpSpPr>
            <a:xfrm>
              <a:off x="0" y="0"/>
              <a:ext cx="444771" cy="444771"/>
              <a:chOff x="0" y="0"/>
              <a:chExt cx="812800" cy="812800"/>
            </a:xfrm>
          </p:grpSpPr>
          <p:sp>
            <p:nvSpPr>
              <p:cNvPr id="30" name="Freeform 12">
                <a:extLst>
                  <a:ext uri="{FF2B5EF4-FFF2-40B4-BE49-F238E27FC236}">
                    <a16:creationId xmlns:a16="http://schemas.microsoft.com/office/drawing/2014/main" id="{EB6EE64D-2500-667A-4357-75C2F88548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1" name="TextBox 13">
                <a:extLst>
                  <a:ext uri="{FF2B5EF4-FFF2-40B4-BE49-F238E27FC236}">
                    <a16:creationId xmlns:a16="http://schemas.microsoft.com/office/drawing/2014/main" id="{4D124AF0-C5FC-79BA-9F10-59291F87E19B}"/>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27" name="Group 14">
              <a:extLst>
                <a:ext uri="{FF2B5EF4-FFF2-40B4-BE49-F238E27FC236}">
                  <a16:creationId xmlns:a16="http://schemas.microsoft.com/office/drawing/2014/main" id="{94A87417-C252-BBEB-290A-42B9F7A59288}"/>
                </a:ext>
              </a:extLst>
            </p:cNvPr>
            <p:cNvGrpSpPr/>
            <p:nvPr/>
          </p:nvGrpSpPr>
          <p:grpSpPr>
            <a:xfrm>
              <a:off x="701994" y="0"/>
              <a:ext cx="444771" cy="444771"/>
              <a:chOff x="0" y="0"/>
              <a:chExt cx="812800" cy="812800"/>
            </a:xfrm>
          </p:grpSpPr>
          <p:sp>
            <p:nvSpPr>
              <p:cNvPr id="28" name="Freeform 15">
                <a:extLst>
                  <a:ext uri="{FF2B5EF4-FFF2-40B4-BE49-F238E27FC236}">
                    <a16:creationId xmlns:a16="http://schemas.microsoft.com/office/drawing/2014/main" id="{00A83B70-549E-0B23-1DE9-6DAE16B532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9" name="TextBox 16">
                <a:extLst>
                  <a:ext uri="{FF2B5EF4-FFF2-40B4-BE49-F238E27FC236}">
                    <a16:creationId xmlns:a16="http://schemas.microsoft.com/office/drawing/2014/main" id="{39A68615-BC9D-C1D8-12BE-69CB1204CC12}"/>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grpSp>
        <p:nvGrpSpPr>
          <p:cNvPr id="32" name="Group 17">
            <a:extLst>
              <a:ext uri="{FF2B5EF4-FFF2-40B4-BE49-F238E27FC236}">
                <a16:creationId xmlns:a16="http://schemas.microsoft.com/office/drawing/2014/main" id="{DAF46195-38FC-9035-11A8-C038A2E6897D}"/>
              </a:ext>
            </a:extLst>
          </p:cNvPr>
          <p:cNvGrpSpPr/>
          <p:nvPr/>
        </p:nvGrpSpPr>
        <p:grpSpPr>
          <a:xfrm>
            <a:off x="18589048" y="342900"/>
            <a:ext cx="860074" cy="333578"/>
            <a:chOff x="0" y="0"/>
            <a:chExt cx="1146765" cy="444771"/>
          </a:xfrm>
        </p:grpSpPr>
        <p:grpSp>
          <p:nvGrpSpPr>
            <p:cNvPr id="33" name="Group 18">
              <a:extLst>
                <a:ext uri="{FF2B5EF4-FFF2-40B4-BE49-F238E27FC236}">
                  <a16:creationId xmlns:a16="http://schemas.microsoft.com/office/drawing/2014/main" id="{A3347C52-1407-9B69-E4DB-64F508EFACF5}"/>
                </a:ext>
              </a:extLst>
            </p:cNvPr>
            <p:cNvGrpSpPr/>
            <p:nvPr/>
          </p:nvGrpSpPr>
          <p:grpSpPr>
            <a:xfrm>
              <a:off x="0" y="0"/>
              <a:ext cx="444771" cy="444771"/>
              <a:chOff x="0" y="0"/>
              <a:chExt cx="812800" cy="812800"/>
            </a:xfrm>
          </p:grpSpPr>
          <p:sp>
            <p:nvSpPr>
              <p:cNvPr id="37" name="Freeform 19">
                <a:extLst>
                  <a:ext uri="{FF2B5EF4-FFF2-40B4-BE49-F238E27FC236}">
                    <a16:creationId xmlns:a16="http://schemas.microsoft.com/office/drawing/2014/main" id="{D524FCD0-6718-E358-4280-D5F6E1E269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8" name="TextBox 20">
                <a:extLst>
                  <a:ext uri="{FF2B5EF4-FFF2-40B4-BE49-F238E27FC236}">
                    <a16:creationId xmlns:a16="http://schemas.microsoft.com/office/drawing/2014/main" id="{7F104A38-BC7B-D1F2-FE4B-3E9A4473FE83}"/>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34" name="Group 21">
              <a:extLst>
                <a:ext uri="{FF2B5EF4-FFF2-40B4-BE49-F238E27FC236}">
                  <a16:creationId xmlns:a16="http://schemas.microsoft.com/office/drawing/2014/main" id="{AFB2E64F-E85E-BF0B-706A-847B4529FF0B}"/>
                </a:ext>
              </a:extLst>
            </p:cNvPr>
            <p:cNvGrpSpPr/>
            <p:nvPr/>
          </p:nvGrpSpPr>
          <p:grpSpPr>
            <a:xfrm>
              <a:off x="701994" y="0"/>
              <a:ext cx="444771" cy="444771"/>
              <a:chOff x="0" y="0"/>
              <a:chExt cx="812800" cy="812800"/>
            </a:xfrm>
          </p:grpSpPr>
          <p:sp>
            <p:nvSpPr>
              <p:cNvPr id="35" name="Freeform 22">
                <a:extLst>
                  <a:ext uri="{FF2B5EF4-FFF2-40B4-BE49-F238E27FC236}">
                    <a16:creationId xmlns:a16="http://schemas.microsoft.com/office/drawing/2014/main" id="{6FB7239A-5F6F-D743-7BAB-046FEAA412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6" name="TextBox 23">
                <a:extLst>
                  <a:ext uri="{FF2B5EF4-FFF2-40B4-BE49-F238E27FC236}">
                    <a16:creationId xmlns:a16="http://schemas.microsoft.com/office/drawing/2014/main" id="{2E31766A-FE8D-3787-60C7-7C66188C5EC9}"/>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D346B-D256-7F81-3A03-E1993606CB25}"/>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32BB4352-44D6-D359-316C-40D29A2D7202}"/>
              </a:ext>
            </a:extLst>
          </p:cNvPr>
          <p:cNvGrpSpPr/>
          <p:nvPr/>
        </p:nvGrpSpPr>
        <p:grpSpPr>
          <a:xfrm>
            <a:off x="9083040" y="6432806"/>
            <a:ext cx="1512662" cy="1512662"/>
            <a:chOff x="0" y="0"/>
            <a:chExt cx="812800" cy="812800"/>
          </a:xfrm>
        </p:grpSpPr>
        <p:sp>
          <p:nvSpPr>
            <p:cNvPr id="5" name="Freeform 5">
              <a:extLst>
                <a:ext uri="{FF2B5EF4-FFF2-40B4-BE49-F238E27FC236}">
                  <a16:creationId xmlns:a16="http://schemas.microsoft.com/office/drawing/2014/main" id="{5E205F13-269F-5F21-29DA-1A1E177828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6" name="TextBox 6">
              <a:extLst>
                <a:ext uri="{FF2B5EF4-FFF2-40B4-BE49-F238E27FC236}">
                  <a16:creationId xmlns:a16="http://schemas.microsoft.com/office/drawing/2014/main" id="{BAD21BD7-82D9-0D1D-C132-E725FCA62342}"/>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7" name="Group 7">
            <a:extLst>
              <a:ext uri="{FF2B5EF4-FFF2-40B4-BE49-F238E27FC236}">
                <a16:creationId xmlns:a16="http://schemas.microsoft.com/office/drawing/2014/main" id="{944F49EB-8AED-58A7-40CF-738125EE2AF4}"/>
              </a:ext>
            </a:extLst>
          </p:cNvPr>
          <p:cNvGrpSpPr/>
          <p:nvPr/>
        </p:nvGrpSpPr>
        <p:grpSpPr>
          <a:xfrm>
            <a:off x="9083040" y="4264819"/>
            <a:ext cx="1512662" cy="1512662"/>
            <a:chOff x="0" y="0"/>
            <a:chExt cx="812800" cy="812800"/>
          </a:xfrm>
        </p:grpSpPr>
        <p:sp>
          <p:nvSpPr>
            <p:cNvPr id="8" name="Freeform 8">
              <a:extLst>
                <a:ext uri="{FF2B5EF4-FFF2-40B4-BE49-F238E27FC236}">
                  <a16:creationId xmlns:a16="http://schemas.microsoft.com/office/drawing/2014/main" id="{D1E5923B-57E0-E051-AF8A-2783A9EA66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9" name="TextBox 9">
              <a:extLst>
                <a:ext uri="{FF2B5EF4-FFF2-40B4-BE49-F238E27FC236}">
                  <a16:creationId xmlns:a16="http://schemas.microsoft.com/office/drawing/2014/main" id="{576EACA7-9A33-35FD-C011-33EE70DC0232}"/>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0" name="TextBox 10">
            <a:extLst>
              <a:ext uri="{FF2B5EF4-FFF2-40B4-BE49-F238E27FC236}">
                <a16:creationId xmlns:a16="http://schemas.microsoft.com/office/drawing/2014/main" id="{ADD89A94-EB98-D8A0-D680-96F3026BB8DE}"/>
              </a:ext>
            </a:extLst>
          </p:cNvPr>
          <p:cNvSpPr txBox="1"/>
          <p:nvPr/>
        </p:nvSpPr>
        <p:spPr>
          <a:xfrm>
            <a:off x="1028700" y="1991926"/>
            <a:ext cx="14750032" cy="948849"/>
          </a:xfrm>
          <a:prstGeom prst="rect">
            <a:avLst/>
          </a:prstGeom>
        </p:spPr>
        <p:txBody>
          <a:bodyPr wrap="square"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THE GROWING THREAT LANDSCAPE</a:t>
            </a:r>
          </a:p>
        </p:txBody>
      </p:sp>
      <p:sp>
        <p:nvSpPr>
          <p:cNvPr id="12" name="TextBox 12">
            <a:extLst>
              <a:ext uri="{FF2B5EF4-FFF2-40B4-BE49-F238E27FC236}">
                <a16:creationId xmlns:a16="http://schemas.microsoft.com/office/drawing/2014/main" id="{F887370D-E2FA-51C2-6B4E-2A643975DA89}"/>
              </a:ext>
            </a:extLst>
          </p:cNvPr>
          <p:cNvSpPr txBox="1"/>
          <p:nvPr/>
        </p:nvSpPr>
        <p:spPr>
          <a:xfrm>
            <a:off x="1028700" y="981075"/>
            <a:ext cx="3512536"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PROBLEM STATEMENT</a:t>
            </a:r>
          </a:p>
        </p:txBody>
      </p:sp>
      <p:sp>
        <p:nvSpPr>
          <p:cNvPr id="13" name="TextBox 13">
            <a:extLst>
              <a:ext uri="{FF2B5EF4-FFF2-40B4-BE49-F238E27FC236}">
                <a16:creationId xmlns:a16="http://schemas.microsoft.com/office/drawing/2014/main" id="{9E14AD25-7244-D195-0E35-3894597ECD67}"/>
              </a:ext>
            </a:extLst>
          </p:cNvPr>
          <p:cNvSpPr txBox="1"/>
          <p:nvPr/>
        </p:nvSpPr>
        <p:spPr>
          <a:xfrm>
            <a:off x="15240000" y="9596236"/>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03</a:t>
            </a:r>
          </a:p>
        </p:txBody>
      </p:sp>
      <p:grpSp>
        <p:nvGrpSpPr>
          <p:cNvPr id="14" name="Group 14">
            <a:extLst>
              <a:ext uri="{FF2B5EF4-FFF2-40B4-BE49-F238E27FC236}">
                <a16:creationId xmlns:a16="http://schemas.microsoft.com/office/drawing/2014/main" id="{869EA3BC-5BD3-996C-077E-D5C9E08D3716}"/>
              </a:ext>
            </a:extLst>
          </p:cNvPr>
          <p:cNvGrpSpPr/>
          <p:nvPr/>
        </p:nvGrpSpPr>
        <p:grpSpPr>
          <a:xfrm>
            <a:off x="11029932" y="6397087"/>
            <a:ext cx="6081089" cy="1558513"/>
            <a:chOff x="0" y="-47625"/>
            <a:chExt cx="8108119" cy="2078017"/>
          </a:xfrm>
        </p:grpSpPr>
        <p:sp>
          <p:nvSpPr>
            <p:cNvPr id="15" name="TextBox 15">
              <a:extLst>
                <a:ext uri="{FF2B5EF4-FFF2-40B4-BE49-F238E27FC236}">
                  <a16:creationId xmlns:a16="http://schemas.microsoft.com/office/drawing/2014/main" id="{847671DA-5E66-2D6B-8242-CA10BADFB1EF}"/>
                </a:ext>
              </a:extLst>
            </p:cNvPr>
            <p:cNvSpPr txBox="1"/>
            <p:nvPr/>
          </p:nvSpPr>
          <p:spPr>
            <a:xfrm>
              <a:off x="0" y="782443"/>
              <a:ext cx="8108119" cy="1247949"/>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Traditional spam filters are static, lack real-time intelligence, and cannot adapt to new scam patterns or generate automated responses.</a:t>
              </a:r>
              <a:endParaRPr lang="en-US" sz="1800" dirty="0">
                <a:solidFill>
                  <a:srgbClr val="000000"/>
                </a:solidFill>
                <a:latin typeface="Inter"/>
                <a:ea typeface="Inter"/>
                <a:cs typeface="Inter"/>
                <a:sym typeface="Inter"/>
              </a:endParaRPr>
            </a:p>
          </p:txBody>
        </p:sp>
        <p:sp>
          <p:nvSpPr>
            <p:cNvPr id="16" name="TextBox 16">
              <a:extLst>
                <a:ext uri="{FF2B5EF4-FFF2-40B4-BE49-F238E27FC236}">
                  <a16:creationId xmlns:a16="http://schemas.microsoft.com/office/drawing/2014/main" id="{58E32C64-5C6D-60D9-B475-4FB961F33268}"/>
                </a:ext>
              </a:extLst>
            </p:cNvPr>
            <p:cNvSpPr txBox="1"/>
            <p:nvPr/>
          </p:nvSpPr>
          <p:spPr>
            <a:xfrm>
              <a:off x="0" y="-47625"/>
              <a:ext cx="6250454" cy="457819"/>
            </a:xfrm>
            <a:prstGeom prst="rect">
              <a:avLst/>
            </a:prstGeom>
          </p:spPr>
          <p:txBody>
            <a:bodyPr wrap="square"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LIMITATIONS OF CURRENT SYSTEM</a:t>
              </a:r>
            </a:p>
          </p:txBody>
        </p:sp>
      </p:grpSp>
      <p:grpSp>
        <p:nvGrpSpPr>
          <p:cNvPr id="17" name="Group 17">
            <a:extLst>
              <a:ext uri="{FF2B5EF4-FFF2-40B4-BE49-F238E27FC236}">
                <a16:creationId xmlns:a16="http://schemas.microsoft.com/office/drawing/2014/main" id="{BF0527C5-B4DC-4418-5FA3-682BB6A0DDA1}"/>
              </a:ext>
            </a:extLst>
          </p:cNvPr>
          <p:cNvGrpSpPr/>
          <p:nvPr/>
        </p:nvGrpSpPr>
        <p:grpSpPr>
          <a:xfrm>
            <a:off x="11029932" y="4229100"/>
            <a:ext cx="6081089" cy="1558513"/>
            <a:chOff x="0" y="-47625"/>
            <a:chExt cx="8108119" cy="2078018"/>
          </a:xfrm>
        </p:grpSpPr>
        <p:sp>
          <p:nvSpPr>
            <p:cNvPr id="18" name="TextBox 18">
              <a:extLst>
                <a:ext uri="{FF2B5EF4-FFF2-40B4-BE49-F238E27FC236}">
                  <a16:creationId xmlns:a16="http://schemas.microsoft.com/office/drawing/2014/main" id="{A86906BC-3FB4-AF5C-9439-00AE1E591DF1}"/>
                </a:ext>
              </a:extLst>
            </p:cNvPr>
            <p:cNvSpPr txBox="1"/>
            <p:nvPr/>
          </p:nvSpPr>
          <p:spPr>
            <a:xfrm>
              <a:off x="0" y="782443"/>
              <a:ext cx="8108119" cy="1247950"/>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Scammers use advanced tactics such as phishing links, fake identities, and social engineering to deceive users, making detection increasingly difficult.</a:t>
              </a:r>
              <a:endParaRPr lang="en-US" sz="1800" dirty="0">
                <a:solidFill>
                  <a:srgbClr val="000000"/>
                </a:solidFill>
                <a:latin typeface="Inter"/>
                <a:ea typeface="Inter"/>
                <a:cs typeface="Inter"/>
                <a:sym typeface="Inter"/>
              </a:endParaRPr>
            </a:p>
          </p:txBody>
        </p:sp>
        <p:sp>
          <p:nvSpPr>
            <p:cNvPr id="19" name="TextBox 19">
              <a:extLst>
                <a:ext uri="{FF2B5EF4-FFF2-40B4-BE49-F238E27FC236}">
                  <a16:creationId xmlns:a16="http://schemas.microsoft.com/office/drawing/2014/main" id="{E5D422F8-A133-DA59-5C5B-75C6F04D8A18}"/>
                </a:ext>
              </a:extLst>
            </p:cNvPr>
            <p:cNvSpPr txBox="1"/>
            <p:nvPr/>
          </p:nvSpPr>
          <p:spPr>
            <a:xfrm>
              <a:off x="0" y="-47625"/>
              <a:ext cx="5290806" cy="471805"/>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EVOLVING SCAM TECHNIQUES</a:t>
              </a:r>
            </a:p>
          </p:txBody>
        </p:sp>
      </p:grpSp>
      <p:sp>
        <p:nvSpPr>
          <p:cNvPr id="20" name="TextBox 20">
            <a:extLst>
              <a:ext uri="{FF2B5EF4-FFF2-40B4-BE49-F238E27FC236}">
                <a16:creationId xmlns:a16="http://schemas.microsoft.com/office/drawing/2014/main" id="{E2A3FD09-37DA-C9D3-3C40-9151084AD24D}"/>
              </a:ext>
            </a:extLst>
          </p:cNvPr>
          <p:cNvSpPr txBox="1"/>
          <p:nvPr/>
        </p:nvSpPr>
        <p:spPr>
          <a:xfrm>
            <a:off x="9459866" y="4814457"/>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01</a:t>
            </a:r>
          </a:p>
        </p:txBody>
      </p:sp>
      <p:sp>
        <p:nvSpPr>
          <p:cNvPr id="21" name="TextBox 21">
            <a:extLst>
              <a:ext uri="{FF2B5EF4-FFF2-40B4-BE49-F238E27FC236}">
                <a16:creationId xmlns:a16="http://schemas.microsoft.com/office/drawing/2014/main" id="{4F4194E3-BC8A-3A96-CC2A-C443FEBEA12F}"/>
              </a:ext>
            </a:extLst>
          </p:cNvPr>
          <p:cNvSpPr txBox="1"/>
          <p:nvPr/>
        </p:nvSpPr>
        <p:spPr>
          <a:xfrm>
            <a:off x="9459866" y="6982444"/>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02</a:t>
            </a:r>
          </a:p>
        </p:txBody>
      </p:sp>
      <p:pic>
        <p:nvPicPr>
          <p:cNvPr id="29" name="Picture 28">
            <a:extLst>
              <a:ext uri="{FF2B5EF4-FFF2-40B4-BE49-F238E27FC236}">
                <a16:creationId xmlns:a16="http://schemas.microsoft.com/office/drawing/2014/main" id="{ACE4F711-44C6-98F3-6FDE-CC91DA51D44B}"/>
              </a:ext>
            </a:extLst>
          </p:cNvPr>
          <p:cNvPicPr>
            <a:picLocks noChangeAspect="1"/>
          </p:cNvPicPr>
          <p:nvPr/>
        </p:nvPicPr>
        <p:blipFill>
          <a:blip r:embed="rId2"/>
          <a:stretch>
            <a:fillRect/>
          </a:stretch>
        </p:blipFill>
        <p:spPr>
          <a:xfrm>
            <a:off x="676092" y="4156212"/>
            <a:ext cx="6410508" cy="3577958"/>
          </a:xfrm>
          <a:prstGeom prst="roundRect">
            <a:avLst>
              <a:gd name="adj" fmla="val 11094"/>
            </a:avLst>
          </a:prstGeom>
          <a:ln>
            <a:noFill/>
          </a:ln>
          <a:effectLst>
            <a:outerShdw blurRad="76200" dist="38100" dir="7800000" algn="tl" rotWithShape="0">
              <a:srgbClr val="000000">
                <a:alpha val="40000"/>
              </a:srgbClr>
            </a:outerShdw>
          </a:effectLst>
        </p:spPr>
      </p:pic>
      <p:pic>
        <p:nvPicPr>
          <p:cNvPr id="2" name="Picture 1">
            <a:extLst>
              <a:ext uri="{FF2B5EF4-FFF2-40B4-BE49-F238E27FC236}">
                <a16:creationId xmlns:a16="http://schemas.microsoft.com/office/drawing/2014/main" id="{9A8EE7BA-F2E9-A613-C47A-381D78D03E84}"/>
              </a:ext>
            </a:extLst>
          </p:cNvPr>
          <p:cNvPicPr>
            <a:picLocks noChangeAspect="1"/>
          </p:cNvPicPr>
          <p:nvPr/>
        </p:nvPicPr>
        <p:blipFill>
          <a:blip r:embed="rId3"/>
          <a:srcRect l="29324" t="9068" r="29500" b="8579"/>
          <a:stretch>
            <a:fillRect/>
          </a:stretch>
        </p:blipFill>
        <p:spPr>
          <a:xfrm>
            <a:off x="7654977" y="7573349"/>
            <a:ext cx="1011444" cy="2022887"/>
          </a:xfrm>
          <a:prstGeom prst="roundRect">
            <a:avLst>
              <a:gd name="adj" fmla="val 11550"/>
            </a:avLst>
          </a:prstGeom>
          <a:ln>
            <a:noFill/>
          </a:ln>
          <a:effectLst>
            <a:outerShdw blurRad="76200" dist="38100" dir="7800000" algn="tl" rotWithShape="0">
              <a:srgbClr val="000000">
                <a:alpha val="40000"/>
              </a:srgbClr>
            </a:outerShdw>
          </a:effectLst>
        </p:spPr>
      </p:pic>
    </p:spTree>
    <p:extLst>
      <p:ext uri="{BB962C8B-B14F-4D97-AF65-F5344CB8AC3E}">
        <p14:creationId xmlns:p14="http://schemas.microsoft.com/office/powerpoint/2010/main" val="2219732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9083040" y="6432806"/>
            <a:ext cx="1512662" cy="151266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9083040" y="4264819"/>
            <a:ext cx="1512662" cy="151266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1028700" y="1991926"/>
            <a:ext cx="14750032" cy="948849"/>
          </a:xfrm>
          <a:prstGeom prst="rect">
            <a:avLst/>
          </a:prstGeom>
        </p:spPr>
        <p:txBody>
          <a:bodyPr wrap="square"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THE GROWING THREAT LANDSCAPE</a:t>
            </a:r>
          </a:p>
        </p:txBody>
      </p:sp>
      <p:sp>
        <p:nvSpPr>
          <p:cNvPr id="12" name="TextBox 12"/>
          <p:cNvSpPr txBox="1"/>
          <p:nvPr/>
        </p:nvSpPr>
        <p:spPr>
          <a:xfrm>
            <a:off x="1028700" y="981075"/>
            <a:ext cx="3512536"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PROBLEM STATEMENT</a:t>
            </a:r>
          </a:p>
        </p:txBody>
      </p:sp>
      <p:sp>
        <p:nvSpPr>
          <p:cNvPr id="13" name="TextBox 13"/>
          <p:cNvSpPr txBox="1"/>
          <p:nvPr/>
        </p:nvSpPr>
        <p:spPr>
          <a:xfrm>
            <a:off x="15240000" y="9715500"/>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03</a:t>
            </a:r>
          </a:p>
        </p:txBody>
      </p:sp>
      <p:grpSp>
        <p:nvGrpSpPr>
          <p:cNvPr id="14" name="Group 14"/>
          <p:cNvGrpSpPr/>
          <p:nvPr/>
        </p:nvGrpSpPr>
        <p:grpSpPr>
          <a:xfrm>
            <a:off x="11029932" y="6397087"/>
            <a:ext cx="6081089" cy="1558513"/>
            <a:chOff x="0" y="-47625"/>
            <a:chExt cx="8108119" cy="2078017"/>
          </a:xfrm>
        </p:grpSpPr>
        <p:sp>
          <p:nvSpPr>
            <p:cNvPr id="15" name="TextBox 15"/>
            <p:cNvSpPr txBox="1"/>
            <p:nvPr/>
          </p:nvSpPr>
          <p:spPr>
            <a:xfrm>
              <a:off x="0" y="782443"/>
              <a:ext cx="8108119" cy="1247949"/>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Traditional spam filters are static, lack real-time intelligence, and cannot adapt to new scam patterns or generate automated responses.</a:t>
              </a:r>
              <a:endParaRPr lang="en-US" sz="1800" dirty="0">
                <a:solidFill>
                  <a:srgbClr val="000000"/>
                </a:solidFill>
                <a:latin typeface="Inter"/>
                <a:ea typeface="Inter"/>
                <a:cs typeface="Inter"/>
                <a:sym typeface="Inter"/>
              </a:endParaRPr>
            </a:p>
          </p:txBody>
        </p:sp>
        <p:sp>
          <p:nvSpPr>
            <p:cNvPr id="16" name="TextBox 16"/>
            <p:cNvSpPr txBox="1"/>
            <p:nvPr/>
          </p:nvSpPr>
          <p:spPr>
            <a:xfrm>
              <a:off x="0" y="-47625"/>
              <a:ext cx="6250454" cy="457819"/>
            </a:xfrm>
            <a:prstGeom prst="rect">
              <a:avLst/>
            </a:prstGeom>
          </p:spPr>
          <p:txBody>
            <a:bodyPr wrap="square"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LIMITATIONS OF CURRENT SYSTEM</a:t>
              </a:r>
            </a:p>
          </p:txBody>
        </p:sp>
      </p:grpSp>
      <p:grpSp>
        <p:nvGrpSpPr>
          <p:cNvPr id="17" name="Group 17"/>
          <p:cNvGrpSpPr/>
          <p:nvPr/>
        </p:nvGrpSpPr>
        <p:grpSpPr>
          <a:xfrm>
            <a:off x="11029932" y="4229100"/>
            <a:ext cx="6081089" cy="1558513"/>
            <a:chOff x="0" y="-47625"/>
            <a:chExt cx="8108119" cy="2078018"/>
          </a:xfrm>
        </p:grpSpPr>
        <p:sp>
          <p:nvSpPr>
            <p:cNvPr id="18" name="TextBox 18"/>
            <p:cNvSpPr txBox="1"/>
            <p:nvPr/>
          </p:nvSpPr>
          <p:spPr>
            <a:xfrm>
              <a:off x="0" y="782443"/>
              <a:ext cx="8108119" cy="1247950"/>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Scammers use advanced tactics such as phishing links, fake identities, and social engineering to deceive users, making detection increasingly difficult.</a:t>
              </a:r>
              <a:endParaRPr lang="en-US" sz="1800" dirty="0">
                <a:solidFill>
                  <a:srgbClr val="000000"/>
                </a:solidFill>
                <a:latin typeface="Inter"/>
                <a:ea typeface="Inter"/>
                <a:cs typeface="Inter"/>
                <a:sym typeface="Inter"/>
              </a:endParaRPr>
            </a:p>
          </p:txBody>
        </p:sp>
        <p:sp>
          <p:nvSpPr>
            <p:cNvPr id="19" name="TextBox 19"/>
            <p:cNvSpPr txBox="1"/>
            <p:nvPr/>
          </p:nvSpPr>
          <p:spPr>
            <a:xfrm>
              <a:off x="0" y="-47625"/>
              <a:ext cx="5290806" cy="471805"/>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EVOLVING SCAM TECHNIQUES</a:t>
              </a:r>
            </a:p>
          </p:txBody>
        </p:sp>
      </p:grpSp>
      <p:sp>
        <p:nvSpPr>
          <p:cNvPr id="20" name="TextBox 20"/>
          <p:cNvSpPr txBox="1"/>
          <p:nvPr/>
        </p:nvSpPr>
        <p:spPr>
          <a:xfrm>
            <a:off x="9459866" y="4814457"/>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01</a:t>
            </a:r>
          </a:p>
        </p:txBody>
      </p:sp>
      <p:sp>
        <p:nvSpPr>
          <p:cNvPr id="21" name="TextBox 21"/>
          <p:cNvSpPr txBox="1"/>
          <p:nvPr/>
        </p:nvSpPr>
        <p:spPr>
          <a:xfrm>
            <a:off x="9459866" y="6982444"/>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02</a:t>
            </a:r>
          </a:p>
        </p:txBody>
      </p:sp>
      <p:pic>
        <p:nvPicPr>
          <p:cNvPr id="29" name="Picture 28">
            <a:extLst>
              <a:ext uri="{FF2B5EF4-FFF2-40B4-BE49-F238E27FC236}">
                <a16:creationId xmlns:a16="http://schemas.microsoft.com/office/drawing/2014/main" id="{45D0A12C-0F53-03A4-3B53-2A3243C03224}"/>
              </a:ext>
            </a:extLst>
          </p:cNvPr>
          <p:cNvPicPr>
            <a:picLocks noChangeAspect="1"/>
          </p:cNvPicPr>
          <p:nvPr/>
        </p:nvPicPr>
        <p:blipFill>
          <a:blip r:embed="rId2"/>
          <a:stretch>
            <a:fillRect/>
          </a:stretch>
        </p:blipFill>
        <p:spPr>
          <a:xfrm>
            <a:off x="533400" y="7192593"/>
            <a:ext cx="3623621" cy="2022486"/>
          </a:xfrm>
          <a:prstGeom prst="roundRect">
            <a:avLst>
              <a:gd name="adj" fmla="val 11094"/>
            </a:avLst>
          </a:prstGeom>
          <a:ln>
            <a:noFill/>
          </a:ln>
          <a:effectLst>
            <a:outerShdw blurRad="76200" dist="38100" dir="7800000" algn="tl" rotWithShape="0">
              <a:srgbClr val="000000">
                <a:alpha val="40000"/>
              </a:srgbClr>
            </a:outerShdw>
          </a:effectLst>
        </p:spPr>
      </p:pic>
      <p:pic>
        <p:nvPicPr>
          <p:cNvPr id="2" name="Picture 1">
            <a:extLst>
              <a:ext uri="{FF2B5EF4-FFF2-40B4-BE49-F238E27FC236}">
                <a16:creationId xmlns:a16="http://schemas.microsoft.com/office/drawing/2014/main" id="{FEAF1A95-8BE3-32F6-562C-C6D9BC7B1F25}"/>
              </a:ext>
            </a:extLst>
          </p:cNvPr>
          <p:cNvPicPr>
            <a:picLocks noChangeAspect="1"/>
          </p:cNvPicPr>
          <p:nvPr/>
        </p:nvPicPr>
        <p:blipFill>
          <a:blip r:embed="rId3"/>
          <a:srcRect l="29324" t="9068" r="29500" b="8579"/>
          <a:stretch>
            <a:fillRect/>
          </a:stretch>
        </p:blipFill>
        <p:spPr>
          <a:xfrm>
            <a:off x="4926476" y="3120613"/>
            <a:ext cx="2667000" cy="5334000"/>
          </a:xfrm>
          <a:prstGeom prst="roundRect">
            <a:avLst>
              <a:gd name="adj" fmla="val 11550"/>
            </a:avLst>
          </a:prstGeom>
          <a:ln>
            <a:noFill/>
          </a:ln>
          <a:effectLst>
            <a:outerShdw blurRad="76200" dist="38100" dir="7800000" algn="tl" rotWithShape="0">
              <a:srgbClr val="000000">
                <a:alpha val="40000"/>
              </a:srgbClr>
            </a:outerShdw>
          </a:effec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14400" y="1979764"/>
            <a:ext cx="17103147" cy="948849"/>
          </a:xfrm>
          <a:prstGeom prst="rect">
            <a:avLst/>
          </a:prstGeom>
        </p:spPr>
        <p:txBody>
          <a:bodyPr wrap="square"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BUILDING AN INTELLIGENT DEFENCE SYSTEM</a:t>
            </a:r>
          </a:p>
        </p:txBody>
      </p:sp>
      <p:sp>
        <p:nvSpPr>
          <p:cNvPr id="6" name="TextBox 6"/>
          <p:cNvSpPr txBox="1"/>
          <p:nvPr/>
        </p:nvSpPr>
        <p:spPr>
          <a:xfrm>
            <a:off x="1028700" y="981075"/>
            <a:ext cx="3512536"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OBJECTIVES</a:t>
            </a:r>
          </a:p>
        </p:txBody>
      </p:sp>
      <p:sp>
        <p:nvSpPr>
          <p:cNvPr id="7" name="TextBox 7"/>
          <p:cNvSpPr txBox="1"/>
          <p:nvPr/>
        </p:nvSpPr>
        <p:spPr>
          <a:xfrm>
            <a:off x="15392400" y="9791700"/>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04</a:t>
            </a:r>
          </a:p>
        </p:txBody>
      </p:sp>
      <p:sp>
        <p:nvSpPr>
          <p:cNvPr id="8" name="TextBox 8"/>
          <p:cNvSpPr txBox="1"/>
          <p:nvPr/>
        </p:nvSpPr>
        <p:spPr>
          <a:xfrm>
            <a:off x="2891772" y="7409981"/>
            <a:ext cx="5725297" cy="935355"/>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Generate human-like, dynamic responses to engage scammers using deception strategies such as delay and confusion.</a:t>
            </a:r>
            <a:endParaRPr lang="en-US" sz="1800" dirty="0">
              <a:solidFill>
                <a:srgbClr val="000000"/>
              </a:solidFill>
              <a:latin typeface="Inter"/>
              <a:ea typeface="Inter"/>
              <a:cs typeface="Inter"/>
              <a:sym typeface="Inter"/>
            </a:endParaRPr>
          </a:p>
        </p:txBody>
      </p:sp>
      <p:sp>
        <p:nvSpPr>
          <p:cNvPr id="9" name="TextBox 9"/>
          <p:cNvSpPr txBox="1"/>
          <p:nvPr/>
        </p:nvSpPr>
        <p:spPr>
          <a:xfrm>
            <a:off x="2891772" y="6785049"/>
            <a:ext cx="4873008" cy="343364"/>
          </a:xfrm>
          <a:prstGeom prst="rect">
            <a:avLst/>
          </a:prstGeom>
        </p:spPr>
        <p:txBody>
          <a:bodyPr wrap="square"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ADAPTIVE RESPONSE GENERATION</a:t>
            </a:r>
          </a:p>
        </p:txBody>
      </p:sp>
      <p:sp>
        <p:nvSpPr>
          <p:cNvPr id="10" name="TextBox 10"/>
          <p:cNvSpPr txBox="1"/>
          <p:nvPr/>
        </p:nvSpPr>
        <p:spPr>
          <a:xfrm>
            <a:off x="2891772" y="5241994"/>
            <a:ext cx="5725297" cy="615361"/>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Identify scam messages using AI by analyzing text, links, and behavioral patterns in real time.</a:t>
            </a:r>
            <a:endParaRPr lang="en-US" sz="1800" dirty="0">
              <a:solidFill>
                <a:srgbClr val="000000"/>
              </a:solidFill>
              <a:latin typeface="Inter"/>
              <a:ea typeface="Inter"/>
              <a:cs typeface="Inter"/>
              <a:sym typeface="Inter"/>
            </a:endParaRPr>
          </a:p>
        </p:txBody>
      </p:sp>
      <p:sp>
        <p:nvSpPr>
          <p:cNvPr id="11" name="TextBox 11"/>
          <p:cNvSpPr txBox="1"/>
          <p:nvPr/>
        </p:nvSpPr>
        <p:spPr>
          <a:xfrm>
            <a:off x="2891772" y="4617062"/>
            <a:ext cx="4796808" cy="343364"/>
          </a:xfrm>
          <a:prstGeom prst="rect">
            <a:avLst/>
          </a:prstGeom>
        </p:spPr>
        <p:txBody>
          <a:bodyPr wrap="square"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INTELLIGENT SCAM DETECTION</a:t>
            </a:r>
          </a:p>
        </p:txBody>
      </p:sp>
      <p:grpSp>
        <p:nvGrpSpPr>
          <p:cNvPr id="12" name="Group 12"/>
          <p:cNvGrpSpPr/>
          <p:nvPr/>
        </p:nvGrpSpPr>
        <p:grpSpPr>
          <a:xfrm>
            <a:off x="944880" y="6832674"/>
            <a:ext cx="1512662" cy="151266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944880" y="4664687"/>
            <a:ext cx="1512662" cy="151266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8" name="TextBox 18"/>
          <p:cNvSpPr txBox="1"/>
          <p:nvPr/>
        </p:nvSpPr>
        <p:spPr>
          <a:xfrm>
            <a:off x="1321706" y="5214325"/>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01</a:t>
            </a:r>
          </a:p>
        </p:txBody>
      </p:sp>
      <p:sp>
        <p:nvSpPr>
          <p:cNvPr id="19" name="TextBox 19"/>
          <p:cNvSpPr txBox="1"/>
          <p:nvPr/>
        </p:nvSpPr>
        <p:spPr>
          <a:xfrm>
            <a:off x="1321706" y="7382312"/>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02</a:t>
            </a:r>
          </a:p>
        </p:txBody>
      </p:sp>
      <p:pic>
        <p:nvPicPr>
          <p:cNvPr id="21" name="Picture 20">
            <a:extLst>
              <a:ext uri="{FF2B5EF4-FFF2-40B4-BE49-F238E27FC236}">
                <a16:creationId xmlns:a16="http://schemas.microsoft.com/office/drawing/2014/main" id="{81847C54-F500-706F-50A0-AB64D34B1185}"/>
              </a:ext>
            </a:extLst>
          </p:cNvPr>
          <p:cNvPicPr>
            <a:picLocks noChangeAspect="1"/>
          </p:cNvPicPr>
          <p:nvPr/>
        </p:nvPicPr>
        <p:blipFill>
          <a:blip r:embed="rId2"/>
          <a:stretch>
            <a:fillRect/>
          </a:stretch>
        </p:blipFill>
        <p:spPr>
          <a:xfrm>
            <a:off x="9525000" y="4076700"/>
            <a:ext cx="8146580" cy="4443589"/>
          </a:xfrm>
          <a:prstGeom prst="roundRect">
            <a:avLst>
              <a:gd name="adj" fmla="val 8779"/>
            </a:avLst>
          </a:prstGeom>
          <a:ln>
            <a:noFill/>
          </a:ln>
          <a:effectLst>
            <a:outerShdw blurRad="76200" dist="38100" dir="7800000" algn="tl" rotWithShape="0">
              <a:srgbClr val="000000">
                <a:alpha val="4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44733" y="4096477"/>
            <a:ext cx="7787960" cy="1949123"/>
          </a:xfrm>
          <a:prstGeom prst="rect">
            <a:avLst/>
          </a:prstGeom>
        </p:spPr>
        <p:txBody>
          <a:bodyPr wrap="square"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DECEPTION DRIVEN AI SYSTEM</a:t>
            </a:r>
          </a:p>
        </p:txBody>
      </p:sp>
      <p:sp>
        <p:nvSpPr>
          <p:cNvPr id="4" name="TextBox 4"/>
          <p:cNvSpPr txBox="1"/>
          <p:nvPr/>
        </p:nvSpPr>
        <p:spPr>
          <a:xfrm>
            <a:off x="1028700" y="981075"/>
            <a:ext cx="3512536"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KEY CONCEPT</a:t>
            </a:r>
          </a:p>
        </p:txBody>
      </p:sp>
      <p:sp>
        <p:nvSpPr>
          <p:cNvPr id="5" name="TextBox 5"/>
          <p:cNvSpPr txBox="1"/>
          <p:nvPr/>
        </p:nvSpPr>
        <p:spPr>
          <a:xfrm>
            <a:off x="15011400" y="9812205"/>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05</a:t>
            </a:r>
          </a:p>
        </p:txBody>
      </p:sp>
      <p:sp>
        <p:nvSpPr>
          <p:cNvPr id="6" name="TextBox 6"/>
          <p:cNvSpPr txBox="1"/>
          <p:nvPr/>
        </p:nvSpPr>
        <p:spPr>
          <a:xfrm>
            <a:off x="11534003" y="2663119"/>
            <a:ext cx="5725297" cy="935355"/>
          </a:xfrm>
          <a:prstGeom prst="rect">
            <a:avLst/>
          </a:prstGeom>
        </p:spPr>
        <p:txBody>
          <a:bodyPr lIns="0" tIns="0" rIns="0" bIns="0" rtlCol="0" anchor="t">
            <a:spAutoFit/>
          </a:bodyPr>
          <a:lstStyle/>
          <a:p>
            <a:pPr algn="just">
              <a:lnSpc>
                <a:spcPts val="2520"/>
              </a:lnSpc>
              <a:spcBef>
                <a:spcPct val="0"/>
              </a:spcBef>
            </a:pPr>
            <a:r>
              <a:rPr lang="en-US" sz="1800">
                <a:solidFill>
                  <a:srgbClr val="000000"/>
                </a:solidFill>
                <a:latin typeface="Inter"/>
                <a:ea typeface="Inter"/>
                <a:cs typeface="Inter"/>
                <a:sym typeface="Inter"/>
              </a:rPr>
              <a:t>Platforms like forums and apps allow individuals to share experiences, express ideas, and build communities across borders.</a:t>
            </a:r>
          </a:p>
        </p:txBody>
      </p:sp>
      <p:sp>
        <p:nvSpPr>
          <p:cNvPr id="7" name="TextBox 7"/>
          <p:cNvSpPr txBox="1"/>
          <p:nvPr/>
        </p:nvSpPr>
        <p:spPr>
          <a:xfrm>
            <a:off x="11534003" y="2038186"/>
            <a:ext cx="3968105"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SCAM DETECTION</a:t>
            </a:r>
          </a:p>
        </p:txBody>
      </p:sp>
      <p:grpSp>
        <p:nvGrpSpPr>
          <p:cNvPr id="8" name="Group 8"/>
          <p:cNvGrpSpPr/>
          <p:nvPr/>
        </p:nvGrpSpPr>
        <p:grpSpPr>
          <a:xfrm>
            <a:off x="9587112" y="2085811"/>
            <a:ext cx="1512662" cy="151266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1" name="TextBox 11"/>
          <p:cNvSpPr txBox="1"/>
          <p:nvPr/>
        </p:nvSpPr>
        <p:spPr>
          <a:xfrm>
            <a:off x="9963938" y="2635450"/>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01</a:t>
            </a:r>
          </a:p>
        </p:txBody>
      </p:sp>
      <p:sp>
        <p:nvSpPr>
          <p:cNvPr id="12" name="TextBox 12"/>
          <p:cNvSpPr txBox="1"/>
          <p:nvPr/>
        </p:nvSpPr>
        <p:spPr>
          <a:xfrm>
            <a:off x="11534003" y="4549728"/>
            <a:ext cx="5725297" cy="935355"/>
          </a:xfrm>
          <a:prstGeom prst="rect">
            <a:avLst/>
          </a:prstGeom>
        </p:spPr>
        <p:txBody>
          <a:bodyPr lIns="0" tIns="0" rIns="0" bIns="0" rtlCol="0" anchor="t">
            <a:spAutoFit/>
          </a:bodyPr>
          <a:lstStyle/>
          <a:p>
            <a:pPr algn="just">
              <a:lnSpc>
                <a:spcPts val="2520"/>
              </a:lnSpc>
              <a:spcBef>
                <a:spcPct val="0"/>
              </a:spcBef>
            </a:pPr>
            <a:r>
              <a:rPr lang="en-US" sz="1800">
                <a:solidFill>
                  <a:srgbClr val="000000"/>
                </a:solidFill>
                <a:latin typeface="Inter"/>
                <a:ea typeface="Inter"/>
                <a:cs typeface="Inter"/>
                <a:sym typeface="Inter"/>
              </a:rPr>
              <a:t>Interest-based groups and forums foster connection among people with shared goals or hobbies, enriching social interactions.</a:t>
            </a:r>
          </a:p>
        </p:txBody>
      </p:sp>
      <p:sp>
        <p:nvSpPr>
          <p:cNvPr id="13" name="TextBox 13"/>
          <p:cNvSpPr txBox="1"/>
          <p:nvPr/>
        </p:nvSpPr>
        <p:spPr>
          <a:xfrm>
            <a:off x="11534003" y="3924795"/>
            <a:ext cx="4696597" cy="343364"/>
          </a:xfrm>
          <a:prstGeom prst="rect">
            <a:avLst/>
          </a:prstGeom>
        </p:spPr>
        <p:txBody>
          <a:bodyPr wrap="square"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STRATERGY SELECTION (PERSONA)</a:t>
            </a:r>
          </a:p>
        </p:txBody>
      </p:sp>
      <p:grpSp>
        <p:nvGrpSpPr>
          <p:cNvPr id="14" name="Group 14"/>
          <p:cNvGrpSpPr/>
          <p:nvPr/>
        </p:nvGrpSpPr>
        <p:grpSpPr>
          <a:xfrm>
            <a:off x="9587112" y="3972420"/>
            <a:ext cx="1512662" cy="151266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7" name="TextBox 17"/>
          <p:cNvSpPr txBox="1"/>
          <p:nvPr/>
        </p:nvSpPr>
        <p:spPr>
          <a:xfrm>
            <a:off x="9963938" y="4522059"/>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02</a:t>
            </a:r>
          </a:p>
        </p:txBody>
      </p:sp>
      <p:sp>
        <p:nvSpPr>
          <p:cNvPr id="18" name="TextBox 18"/>
          <p:cNvSpPr txBox="1"/>
          <p:nvPr/>
        </p:nvSpPr>
        <p:spPr>
          <a:xfrm>
            <a:off x="11534003" y="6436336"/>
            <a:ext cx="5725297" cy="935355"/>
          </a:xfrm>
          <a:prstGeom prst="rect">
            <a:avLst/>
          </a:prstGeom>
        </p:spPr>
        <p:txBody>
          <a:bodyPr lIns="0" tIns="0" rIns="0" bIns="0" rtlCol="0" anchor="t">
            <a:spAutoFit/>
          </a:bodyPr>
          <a:lstStyle/>
          <a:p>
            <a:pPr algn="just">
              <a:lnSpc>
                <a:spcPts val="2520"/>
              </a:lnSpc>
              <a:spcBef>
                <a:spcPct val="0"/>
              </a:spcBef>
            </a:pPr>
            <a:r>
              <a:rPr lang="en-US" sz="1800">
                <a:solidFill>
                  <a:srgbClr val="000000"/>
                </a:solidFill>
                <a:latin typeface="Inter"/>
                <a:ea typeface="Inter"/>
                <a:cs typeface="Inter"/>
                <a:sym typeface="Inter"/>
              </a:rPr>
              <a:t>Technologies like video conferencing and AR enable immersive experiences, breaking barriers to participation and accessibility.</a:t>
            </a:r>
          </a:p>
        </p:txBody>
      </p:sp>
      <p:sp>
        <p:nvSpPr>
          <p:cNvPr id="19" name="TextBox 19"/>
          <p:cNvSpPr txBox="1"/>
          <p:nvPr/>
        </p:nvSpPr>
        <p:spPr>
          <a:xfrm>
            <a:off x="11534003" y="5811404"/>
            <a:ext cx="3968105"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ADVERSARIAL ENGAGEMENT</a:t>
            </a:r>
          </a:p>
        </p:txBody>
      </p:sp>
      <p:grpSp>
        <p:nvGrpSpPr>
          <p:cNvPr id="20" name="Group 20"/>
          <p:cNvGrpSpPr/>
          <p:nvPr/>
        </p:nvGrpSpPr>
        <p:grpSpPr>
          <a:xfrm>
            <a:off x="9587112" y="5859029"/>
            <a:ext cx="1512662" cy="151266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23" name="TextBox 23"/>
          <p:cNvSpPr txBox="1"/>
          <p:nvPr/>
        </p:nvSpPr>
        <p:spPr>
          <a:xfrm>
            <a:off x="9963938" y="6408668"/>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03</a:t>
            </a:r>
          </a:p>
        </p:txBody>
      </p:sp>
      <p:sp>
        <p:nvSpPr>
          <p:cNvPr id="24" name="TextBox 24"/>
          <p:cNvSpPr txBox="1"/>
          <p:nvPr/>
        </p:nvSpPr>
        <p:spPr>
          <a:xfrm>
            <a:off x="11534003" y="8322945"/>
            <a:ext cx="5725297" cy="935355"/>
          </a:xfrm>
          <a:prstGeom prst="rect">
            <a:avLst/>
          </a:prstGeom>
        </p:spPr>
        <p:txBody>
          <a:bodyPr lIns="0" tIns="0" rIns="0" bIns="0" rtlCol="0" anchor="t">
            <a:spAutoFit/>
          </a:bodyPr>
          <a:lstStyle/>
          <a:p>
            <a:pPr algn="just">
              <a:lnSpc>
                <a:spcPts val="2520"/>
              </a:lnSpc>
              <a:spcBef>
                <a:spcPct val="0"/>
              </a:spcBef>
            </a:pPr>
            <a:r>
              <a:rPr lang="en-US" sz="1800">
                <a:solidFill>
                  <a:srgbClr val="000000"/>
                </a:solidFill>
                <a:latin typeface="Inter"/>
                <a:ea typeface="Inter"/>
                <a:cs typeface="Inter"/>
                <a:sym typeface="Inter"/>
              </a:rPr>
              <a:t>Bridging gaps in access to technology and digital literacy is essential to ensure equitable opportunities for all.</a:t>
            </a:r>
          </a:p>
        </p:txBody>
      </p:sp>
      <p:sp>
        <p:nvSpPr>
          <p:cNvPr id="25" name="TextBox 25"/>
          <p:cNvSpPr txBox="1"/>
          <p:nvPr/>
        </p:nvSpPr>
        <p:spPr>
          <a:xfrm>
            <a:off x="11534003" y="7698013"/>
            <a:ext cx="3968105"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CONTINOUS LEARNING</a:t>
            </a:r>
          </a:p>
        </p:txBody>
      </p:sp>
      <p:grpSp>
        <p:nvGrpSpPr>
          <p:cNvPr id="26" name="Group 26"/>
          <p:cNvGrpSpPr/>
          <p:nvPr/>
        </p:nvGrpSpPr>
        <p:grpSpPr>
          <a:xfrm>
            <a:off x="9587112" y="7745638"/>
            <a:ext cx="1512662" cy="151266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29" name="TextBox 29"/>
          <p:cNvSpPr txBox="1"/>
          <p:nvPr/>
        </p:nvSpPr>
        <p:spPr>
          <a:xfrm>
            <a:off x="9963938" y="8295276"/>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04</a:t>
            </a:r>
          </a:p>
        </p:txBody>
      </p:sp>
      <p:grpSp>
        <p:nvGrpSpPr>
          <p:cNvPr id="30" name="Group 30"/>
          <p:cNvGrpSpPr/>
          <p:nvPr/>
        </p:nvGrpSpPr>
        <p:grpSpPr>
          <a:xfrm>
            <a:off x="1028700" y="8924722"/>
            <a:ext cx="860074" cy="333578"/>
            <a:chOff x="0" y="0"/>
            <a:chExt cx="1146765" cy="444771"/>
          </a:xfrm>
        </p:grpSpPr>
        <p:grpSp>
          <p:nvGrpSpPr>
            <p:cNvPr id="31" name="Group 31"/>
            <p:cNvGrpSpPr/>
            <p:nvPr/>
          </p:nvGrpSpPr>
          <p:grpSpPr>
            <a:xfrm>
              <a:off x="0" y="0"/>
              <a:ext cx="444771" cy="44477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3" name="TextBox 33"/>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34" name="Group 34"/>
            <p:cNvGrpSpPr/>
            <p:nvPr/>
          </p:nvGrpSpPr>
          <p:grpSpPr>
            <a:xfrm>
              <a:off x="701994" y="0"/>
              <a:ext cx="444771" cy="44477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39970" y="7324090"/>
            <a:ext cx="6676660" cy="1949123"/>
          </a:xfrm>
          <a:prstGeom prst="rect">
            <a:avLst/>
          </a:prstGeom>
        </p:spPr>
        <p:txBody>
          <a:bodyPr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REAL-WORLD SCENARIOS</a:t>
            </a:r>
          </a:p>
        </p:txBody>
      </p:sp>
      <p:sp>
        <p:nvSpPr>
          <p:cNvPr id="3" name="TextBox 3"/>
          <p:cNvSpPr txBox="1"/>
          <p:nvPr/>
        </p:nvSpPr>
        <p:spPr>
          <a:xfrm>
            <a:off x="8480677" y="7694930"/>
            <a:ext cx="8767353" cy="935962"/>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The proposed system can be applied across multiple digital communication platforms to detect, analyze, and actively respond to scam attempts, ensuring enhanced user safety and reduced fraud risk.</a:t>
            </a:r>
            <a:endParaRPr lang="en-US" sz="1800" dirty="0">
              <a:solidFill>
                <a:srgbClr val="000000"/>
              </a:solidFill>
              <a:latin typeface="Inter"/>
              <a:ea typeface="Inter"/>
              <a:cs typeface="Inter"/>
              <a:sym typeface="Inter"/>
            </a:endParaRPr>
          </a:p>
        </p:txBody>
      </p:sp>
      <p:sp>
        <p:nvSpPr>
          <p:cNvPr id="4" name="TextBox 4"/>
          <p:cNvSpPr txBox="1"/>
          <p:nvPr/>
        </p:nvSpPr>
        <p:spPr>
          <a:xfrm>
            <a:off x="1028700" y="981075"/>
            <a:ext cx="3512536" cy="343364"/>
          </a:xfrm>
          <a:prstGeom prst="rect">
            <a:avLst/>
          </a:prstGeom>
        </p:spPr>
        <p:txBody>
          <a:bodyPr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USE CASES</a:t>
            </a:r>
          </a:p>
        </p:txBody>
      </p:sp>
      <p:sp>
        <p:nvSpPr>
          <p:cNvPr id="5" name="TextBox 5"/>
          <p:cNvSpPr txBox="1"/>
          <p:nvPr/>
        </p:nvSpPr>
        <p:spPr>
          <a:xfrm>
            <a:off x="15240000" y="9798930"/>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06</a:t>
            </a:r>
          </a:p>
        </p:txBody>
      </p:sp>
      <p:pic>
        <p:nvPicPr>
          <p:cNvPr id="11" name="Picture 10">
            <a:extLst>
              <a:ext uri="{FF2B5EF4-FFF2-40B4-BE49-F238E27FC236}">
                <a16:creationId xmlns:a16="http://schemas.microsoft.com/office/drawing/2014/main" id="{A595A217-5B71-FBE5-21A6-DF0CD55BFCCC}"/>
              </a:ext>
            </a:extLst>
          </p:cNvPr>
          <p:cNvPicPr>
            <a:picLocks noChangeAspect="1"/>
          </p:cNvPicPr>
          <p:nvPr/>
        </p:nvPicPr>
        <p:blipFill>
          <a:blip r:embed="rId2"/>
          <a:stretch>
            <a:fillRect/>
          </a:stretch>
        </p:blipFill>
        <p:spPr>
          <a:xfrm>
            <a:off x="914400" y="2205210"/>
            <a:ext cx="7923084" cy="4321682"/>
          </a:xfrm>
          <a:prstGeom prst="roundRect">
            <a:avLst>
              <a:gd name="adj" fmla="val 5030"/>
            </a:avLst>
          </a:prstGeom>
          <a:ln>
            <a:noFill/>
          </a:ln>
          <a:effectLst>
            <a:outerShdw blurRad="76200" dist="38100" dir="7800000" algn="tl" rotWithShape="0">
              <a:srgbClr val="000000">
                <a:alpha val="40000"/>
              </a:srgbClr>
            </a:outerShdw>
          </a:effectLst>
        </p:spPr>
      </p:pic>
      <p:pic>
        <p:nvPicPr>
          <p:cNvPr id="14" name="Picture 13">
            <a:extLst>
              <a:ext uri="{FF2B5EF4-FFF2-40B4-BE49-F238E27FC236}">
                <a16:creationId xmlns:a16="http://schemas.microsoft.com/office/drawing/2014/main" id="{45B2D452-8440-EC41-58F7-8A3F5E668797}"/>
              </a:ext>
            </a:extLst>
          </p:cNvPr>
          <p:cNvPicPr>
            <a:picLocks noChangeAspect="1"/>
          </p:cNvPicPr>
          <p:nvPr/>
        </p:nvPicPr>
        <p:blipFill>
          <a:blip r:embed="rId3"/>
          <a:srcRect l="7031" t="21094" r="7033" b="21875"/>
          <a:stretch>
            <a:fillRect/>
          </a:stretch>
        </p:blipFill>
        <p:spPr>
          <a:xfrm>
            <a:off x="9753600" y="2177950"/>
            <a:ext cx="6553200" cy="4348942"/>
          </a:xfrm>
          <a:prstGeom prst="roundRect">
            <a:avLst>
              <a:gd name="adj" fmla="val 5872"/>
            </a:avLst>
          </a:prstGeom>
          <a:ln>
            <a:noFill/>
          </a:ln>
          <a:effectLst>
            <a:outerShdw blurRad="76200" dist="38100" dir="7800000" algn="tl"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914400" y="1257300"/>
            <a:ext cx="14837351" cy="449226"/>
          </a:xfrm>
          <a:prstGeom prst="rect">
            <a:avLst/>
          </a:prstGeom>
        </p:spPr>
        <p:txBody>
          <a:bodyPr wrap="square" lIns="0" tIns="0" rIns="0" bIns="0" rtlCol="0" anchor="t">
            <a:spAutoFit/>
          </a:bodyPr>
          <a:lstStyle/>
          <a:p>
            <a:pPr algn="l">
              <a:lnSpc>
                <a:spcPts val="2940"/>
              </a:lnSpc>
              <a:spcBef>
                <a:spcPct val="0"/>
              </a:spcBef>
            </a:pPr>
            <a:r>
              <a:rPr lang="en-US" sz="4400" b="1" dirty="0">
                <a:solidFill>
                  <a:srgbClr val="000000"/>
                </a:solidFill>
                <a:latin typeface="Red Hat Display Bold" panose="020B0604020202020204" charset="0"/>
                <a:ea typeface="Inter Medium"/>
                <a:cs typeface="Inter Medium"/>
                <a:sym typeface="Inter Medium"/>
              </a:rPr>
              <a:t>LITERATURE SURVEY AND RESEARCH GAP</a:t>
            </a:r>
          </a:p>
        </p:txBody>
      </p:sp>
      <p:graphicFrame>
        <p:nvGraphicFramePr>
          <p:cNvPr id="12" name="Table 11">
            <a:extLst>
              <a:ext uri="{FF2B5EF4-FFF2-40B4-BE49-F238E27FC236}">
                <a16:creationId xmlns:a16="http://schemas.microsoft.com/office/drawing/2014/main" id="{CF52FECD-828A-9DDD-A210-0EA00BB71618}"/>
              </a:ext>
            </a:extLst>
          </p:cNvPr>
          <p:cNvGraphicFramePr>
            <a:graphicFrameLocks noGrp="1"/>
          </p:cNvGraphicFramePr>
          <p:nvPr>
            <p:extLst>
              <p:ext uri="{D42A27DB-BD31-4B8C-83A1-F6EECF244321}">
                <p14:modId xmlns:p14="http://schemas.microsoft.com/office/powerpoint/2010/main" val="3556955041"/>
              </p:ext>
            </p:extLst>
          </p:nvPr>
        </p:nvGraphicFramePr>
        <p:xfrm>
          <a:off x="914400" y="1790700"/>
          <a:ext cx="16459200" cy="7467276"/>
        </p:xfrm>
        <a:graphic>
          <a:graphicData uri="http://schemas.openxmlformats.org/drawingml/2006/table">
            <a:tbl>
              <a:tblPr firstRow="1" bandRow="1">
                <a:tableStyleId>{073A0DAA-6AF3-43AB-8588-CEC1D06C72B9}</a:tableStyleId>
              </a:tblPr>
              <a:tblGrid>
                <a:gridCol w="5486400">
                  <a:extLst>
                    <a:ext uri="{9D8B030D-6E8A-4147-A177-3AD203B41FA5}">
                      <a16:colId xmlns:a16="http://schemas.microsoft.com/office/drawing/2014/main" val="1444536009"/>
                    </a:ext>
                  </a:extLst>
                </a:gridCol>
                <a:gridCol w="5486400">
                  <a:extLst>
                    <a:ext uri="{9D8B030D-6E8A-4147-A177-3AD203B41FA5}">
                      <a16:colId xmlns:a16="http://schemas.microsoft.com/office/drawing/2014/main" val="2526246234"/>
                    </a:ext>
                  </a:extLst>
                </a:gridCol>
                <a:gridCol w="5486400">
                  <a:extLst>
                    <a:ext uri="{9D8B030D-6E8A-4147-A177-3AD203B41FA5}">
                      <a16:colId xmlns:a16="http://schemas.microsoft.com/office/drawing/2014/main" val="3407081114"/>
                    </a:ext>
                  </a:extLst>
                </a:gridCol>
              </a:tblGrid>
              <a:tr h="838742">
                <a:tc>
                  <a:txBody>
                    <a:bodyPr/>
                    <a:lstStyle/>
                    <a:p>
                      <a:pPr algn="ctr">
                        <a:buNone/>
                      </a:pPr>
                      <a:r>
                        <a:rPr lang="en-IN" sz="2000" b="1" dirty="0">
                          <a:latin typeface="Inter" panose="020B0604020202020204" charset="0"/>
                          <a:ea typeface="Inter" panose="020B0604020202020204" charset="0"/>
                        </a:rPr>
                        <a:t>Research Topic (Paper)</a:t>
                      </a:r>
                      <a:endParaRPr lang="en-IN" sz="2000" dirty="0">
                        <a:latin typeface="Inter" panose="020B0604020202020204" charset="0"/>
                        <a:ea typeface="Inter" panose="020B0604020202020204" charset="0"/>
                      </a:endParaRPr>
                    </a:p>
                  </a:txBody>
                  <a:tcPr anchor="ctr"/>
                </a:tc>
                <a:tc>
                  <a:txBody>
                    <a:bodyPr/>
                    <a:lstStyle/>
                    <a:p>
                      <a:pPr algn="ctr">
                        <a:buNone/>
                      </a:pPr>
                      <a:r>
                        <a:rPr lang="en-IN" sz="2000" b="1">
                          <a:latin typeface="Inter" panose="020B0604020202020204" charset="0"/>
                          <a:ea typeface="Inter" panose="020B0604020202020204" charset="0"/>
                        </a:rPr>
                        <a:t>Research Gap</a:t>
                      </a:r>
                      <a:endParaRPr lang="en-IN" sz="2000">
                        <a:latin typeface="Inter" panose="020B0604020202020204" charset="0"/>
                        <a:ea typeface="Inter" panose="020B0604020202020204" charset="0"/>
                      </a:endParaRPr>
                    </a:p>
                  </a:txBody>
                  <a:tcPr anchor="ctr"/>
                </a:tc>
                <a:tc>
                  <a:txBody>
                    <a:bodyPr/>
                    <a:lstStyle/>
                    <a:p>
                      <a:pPr algn="ctr">
                        <a:buNone/>
                      </a:pPr>
                      <a:r>
                        <a:rPr lang="en-IN" sz="2000" b="1" dirty="0">
                          <a:latin typeface="Inter" panose="020B0604020202020204" charset="0"/>
                          <a:ea typeface="Inter" panose="020B0604020202020204" charset="0"/>
                        </a:rPr>
                        <a:t>Challenges</a:t>
                      </a:r>
                      <a:endParaRPr lang="en-IN" sz="2000" dirty="0">
                        <a:latin typeface="Inter" panose="020B0604020202020204" charset="0"/>
                        <a:ea typeface="Inter" panose="020B0604020202020204" charset="0"/>
                      </a:endParaRPr>
                    </a:p>
                  </a:txBody>
                  <a:tcPr anchor="ctr"/>
                </a:tc>
                <a:extLst>
                  <a:ext uri="{0D108BD9-81ED-4DB2-BD59-A6C34878D82A}">
                    <a16:rowId xmlns:a16="http://schemas.microsoft.com/office/drawing/2014/main" val="798330364"/>
                  </a:ext>
                </a:extLst>
              </a:tr>
              <a:tr h="1066258">
                <a:tc>
                  <a:txBody>
                    <a:bodyPr/>
                    <a:lstStyle/>
                    <a:p>
                      <a:pPr algn="ctr">
                        <a:buNone/>
                      </a:pPr>
                      <a:r>
                        <a:rPr lang="en-US" sz="2000" dirty="0">
                          <a:latin typeface="Inter" panose="020B0604020202020204" charset="0"/>
                          <a:ea typeface="Inter" panose="020B0604020202020204" charset="0"/>
                        </a:rPr>
                        <a:t>AI-Driven Phishing Detection Systems (2024)</a:t>
                      </a:r>
                    </a:p>
                  </a:txBody>
                  <a:tcPr anchor="ctr"/>
                </a:tc>
                <a:tc>
                  <a:txBody>
                    <a:bodyPr/>
                    <a:lstStyle/>
                    <a:p>
                      <a:pPr algn="ctr">
                        <a:buNone/>
                      </a:pPr>
                      <a:r>
                        <a:rPr lang="en-US" sz="2000">
                          <a:latin typeface="Inter" panose="020B0604020202020204" charset="0"/>
                          <a:ea typeface="Inter" panose="020B0604020202020204" charset="0"/>
                        </a:rPr>
                        <a:t>Primarily detection-focused, no response system</a:t>
                      </a:r>
                    </a:p>
                  </a:txBody>
                  <a:tcPr anchor="ctr"/>
                </a:tc>
                <a:tc>
                  <a:txBody>
                    <a:bodyPr/>
                    <a:lstStyle/>
                    <a:p>
                      <a:pPr algn="ctr">
                        <a:buNone/>
                      </a:pPr>
                      <a:r>
                        <a:rPr lang="en-US" sz="2000" dirty="0">
                          <a:latin typeface="Inter" panose="020B0604020202020204" charset="0"/>
                          <a:ea typeface="Inter" panose="020B0604020202020204" charset="0"/>
                        </a:rPr>
                        <a:t>Cannot adapt quickly to evolving attacks</a:t>
                      </a:r>
                    </a:p>
                  </a:txBody>
                  <a:tcPr anchor="ctr"/>
                </a:tc>
                <a:extLst>
                  <a:ext uri="{0D108BD9-81ED-4DB2-BD59-A6C34878D82A}">
                    <a16:rowId xmlns:a16="http://schemas.microsoft.com/office/drawing/2014/main" val="2442147557"/>
                  </a:ext>
                </a:extLst>
              </a:tr>
              <a:tr h="1219200">
                <a:tc>
                  <a:txBody>
                    <a:bodyPr/>
                    <a:lstStyle/>
                    <a:p>
                      <a:pPr algn="ctr">
                        <a:buNone/>
                      </a:pPr>
                      <a:r>
                        <a:rPr lang="en-US" sz="2000" dirty="0">
                          <a:latin typeface="Inter" panose="020B0604020202020204" charset="0"/>
                          <a:ea typeface="Inter" panose="020B0604020202020204" charset="0"/>
                        </a:rPr>
                        <a:t>ML-Based Detection with Dataset Models (2023)</a:t>
                      </a:r>
                    </a:p>
                  </a:txBody>
                  <a:tcPr anchor="ctr"/>
                </a:tc>
                <a:tc>
                  <a:txBody>
                    <a:bodyPr/>
                    <a:lstStyle/>
                    <a:p>
                      <a:pPr algn="ctr">
                        <a:buNone/>
                      </a:pPr>
                      <a:r>
                        <a:rPr lang="en-IN" sz="2000" dirty="0">
                          <a:latin typeface="Inter" panose="020B0604020202020204" charset="0"/>
                          <a:ea typeface="Inter" panose="020B0604020202020204" charset="0"/>
                        </a:rPr>
                        <a:t>Limited real-time deployment capability</a:t>
                      </a:r>
                    </a:p>
                  </a:txBody>
                  <a:tcPr anchor="ctr"/>
                </a:tc>
                <a:tc>
                  <a:txBody>
                    <a:bodyPr/>
                    <a:lstStyle/>
                    <a:p>
                      <a:pPr algn="ctr">
                        <a:buNone/>
                      </a:pPr>
                      <a:r>
                        <a:rPr lang="en-US" sz="2000" dirty="0">
                          <a:latin typeface="Inter" panose="020B0604020202020204" charset="0"/>
                          <a:ea typeface="Inter" panose="020B0604020202020204" charset="0"/>
                        </a:rPr>
                        <a:t>Dataset quality and feature selection issues </a:t>
                      </a:r>
                    </a:p>
                  </a:txBody>
                  <a:tcPr anchor="ctr"/>
                </a:tc>
                <a:extLst>
                  <a:ext uri="{0D108BD9-81ED-4DB2-BD59-A6C34878D82A}">
                    <a16:rowId xmlns:a16="http://schemas.microsoft.com/office/drawing/2014/main" val="4220207289"/>
                  </a:ext>
                </a:extLst>
              </a:tr>
              <a:tr h="1447692">
                <a:tc>
                  <a:txBody>
                    <a:bodyPr/>
                    <a:lstStyle/>
                    <a:p>
                      <a:pPr algn="ctr">
                        <a:buNone/>
                      </a:pPr>
                      <a:r>
                        <a:rPr lang="en-IN" sz="2000" dirty="0">
                          <a:latin typeface="Inter" panose="020B0604020202020204" charset="0"/>
                          <a:ea typeface="Inter" panose="020B0604020202020204" charset="0"/>
                        </a:rPr>
                        <a:t>ML-Based Phishing Detection </a:t>
                      </a:r>
                    </a:p>
                    <a:p>
                      <a:pPr algn="ctr">
                        <a:buNone/>
                      </a:pPr>
                      <a:r>
                        <a:rPr lang="en-IN" sz="2000" dirty="0">
                          <a:latin typeface="Inter" panose="020B0604020202020204" charset="0"/>
                          <a:ea typeface="Inter" panose="020B0604020202020204" charset="0"/>
                        </a:rPr>
                        <a:t>(2022)</a:t>
                      </a:r>
                    </a:p>
                  </a:txBody>
                  <a:tcPr anchor="ctr"/>
                </a:tc>
                <a:tc>
                  <a:txBody>
                    <a:bodyPr/>
                    <a:lstStyle/>
                    <a:p>
                      <a:pPr algn="ctr">
                        <a:buNone/>
                      </a:pPr>
                      <a:r>
                        <a:rPr lang="en-IN" sz="2000" dirty="0">
                          <a:latin typeface="Inter" panose="020B0604020202020204" charset="0"/>
                          <a:ea typeface="Inter" panose="020B0604020202020204" charset="0"/>
                        </a:rPr>
                        <a:t>Requires large labelled datasets</a:t>
                      </a:r>
                    </a:p>
                  </a:txBody>
                  <a:tcPr anchor="ctr"/>
                </a:tc>
                <a:tc>
                  <a:txBody>
                    <a:bodyPr/>
                    <a:lstStyle/>
                    <a:p>
                      <a:pPr algn="ctr">
                        <a:buNone/>
                      </a:pPr>
                      <a:r>
                        <a:rPr lang="en-US" sz="2000" dirty="0">
                          <a:latin typeface="Inter" panose="020B0604020202020204" charset="0"/>
                          <a:ea typeface="Inter" panose="020B0604020202020204" charset="0"/>
                        </a:rPr>
                        <a:t>Scalability and data dependency issues</a:t>
                      </a:r>
                    </a:p>
                  </a:txBody>
                  <a:tcPr anchor="ctr"/>
                </a:tc>
                <a:extLst>
                  <a:ext uri="{0D108BD9-81ED-4DB2-BD59-A6C34878D82A}">
                    <a16:rowId xmlns:a16="http://schemas.microsoft.com/office/drawing/2014/main" val="1156531138"/>
                  </a:ext>
                </a:extLst>
              </a:tr>
              <a:tr h="1447692">
                <a:tc>
                  <a:txBody>
                    <a:bodyPr/>
                    <a:lstStyle/>
                    <a:p>
                      <a:pPr algn="ctr">
                        <a:buNone/>
                      </a:pPr>
                      <a:r>
                        <a:rPr lang="en-US" sz="2000" dirty="0">
                          <a:latin typeface="Inter" panose="020B0604020202020204" charset="0"/>
                          <a:ea typeface="Inter" panose="020B0604020202020204" charset="0"/>
                        </a:rPr>
                        <a:t>Deep Learning for Phishing Detection </a:t>
                      </a:r>
                    </a:p>
                    <a:p>
                      <a:pPr algn="ctr">
                        <a:buNone/>
                      </a:pPr>
                      <a:r>
                        <a:rPr lang="en-US" sz="2000" dirty="0">
                          <a:latin typeface="Inter" panose="020B0604020202020204" charset="0"/>
                          <a:ea typeface="Inter" panose="020B0604020202020204" charset="0"/>
                        </a:rPr>
                        <a:t>(2022 Survey)</a:t>
                      </a:r>
                    </a:p>
                  </a:txBody>
                  <a:tcPr anchor="ctr"/>
                </a:tc>
                <a:tc>
                  <a:txBody>
                    <a:bodyPr/>
                    <a:lstStyle/>
                    <a:p>
                      <a:pPr algn="ctr">
                        <a:buNone/>
                      </a:pPr>
                      <a:r>
                        <a:rPr lang="en-US" sz="2000" dirty="0">
                          <a:latin typeface="Inter" panose="020B0604020202020204" charset="0"/>
                          <a:ea typeface="Inter" panose="020B0604020202020204" charset="0"/>
                        </a:rPr>
                        <a:t>Lack of comprehensive system integration</a:t>
                      </a:r>
                    </a:p>
                  </a:txBody>
                  <a:tcPr anchor="ctr"/>
                </a:tc>
                <a:tc>
                  <a:txBody>
                    <a:bodyPr/>
                    <a:lstStyle/>
                    <a:p>
                      <a:pPr algn="ctr">
                        <a:buNone/>
                      </a:pPr>
                      <a:r>
                        <a:rPr lang="en-US" sz="2000" dirty="0">
                          <a:latin typeface="Inter" panose="020B0604020202020204" charset="0"/>
                          <a:ea typeface="Inter" panose="020B0604020202020204" charset="0"/>
                        </a:rPr>
                        <a:t>High computational cost and complexity</a:t>
                      </a:r>
                    </a:p>
                  </a:txBody>
                  <a:tcPr anchor="ctr"/>
                </a:tc>
                <a:extLst>
                  <a:ext uri="{0D108BD9-81ED-4DB2-BD59-A6C34878D82A}">
                    <a16:rowId xmlns:a16="http://schemas.microsoft.com/office/drawing/2014/main" val="682026369"/>
                  </a:ext>
                </a:extLst>
              </a:tr>
              <a:tr h="1447692">
                <a:tc>
                  <a:txBody>
                    <a:bodyPr/>
                    <a:lstStyle/>
                    <a:p>
                      <a:pPr algn="ctr">
                        <a:buNone/>
                      </a:pPr>
                      <a:r>
                        <a:rPr lang="en-US" sz="2000" dirty="0">
                          <a:latin typeface="Inter" panose="020B0604020202020204" charset="0"/>
                          <a:ea typeface="Inter" panose="020B0604020202020204" charset="0"/>
                        </a:rPr>
                        <a:t>Phishing Website Detection using ML (2018)</a:t>
                      </a:r>
                    </a:p>
                  </a:txBody>
                  <a:tcPr anchor="ctr"/>
                </a:tc>
                <a:tc>
                  <a:txBody>
                    <a:bodyPr/>
                    <a:lstStyle/>
                    <a:p>
                      <a:pPr algn="ctr">
                        <a:buNone/>
                      </a:pPr>
                      <a:r>
                        <a:rPr lang="en-US" sz="2000" dirty="0">
                          <a:latin typeface="Inter" panose="020B0604020202020204" charset="0"/>
                          <a:ea typeface="Inter" panose="020B0604020202020204" charset="0"/>
                        </a:rPr>
                        <a:t>Focuses only on URL-based detection</a:t>
                      </a:r>
                    </a:p>
                  </a:txBody>
                  <a:tcPr anchor="ctr"/>
                </a:tc>
                <a:tc>
                  <a:txBody>
                    <a:bodyPr/>
                    <a:lstStyle/>
                    <a:p>
                      <a:pPr algn="ctr">
                        <a:buNone/>
                      </a:pPr>
                      <a:r>
                        <a:rPr lang="en-US" sz="2000" dirty="0">
                          <a:latin typeface="Inter" panose="020B0604020202020204" charset="0"/>
                          <a:ea typeface="Inter" panose="020B0604020202020204" charset="0"/>
                        </a:rPr>
                        <a:t>Cannot detect zero-day attacks effectively </a:t>
                      </a:r>
                    </a:p>
                  </a:txBody>
                  <a:tcPr anchor="ctr"/>
                </a:tc>
                <a:extLst>
                  <a:ext uri="{0D108BD9-81ED-4DB2-BD59-A6C34878D82A}">
                    <a16:rowId xmlns:a16="http://schemas.microsoft.com/office/drawing/2014/main" val="34067848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5697200" y="9767186"/>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08</a:t>
            </a:r>
          </a:p>
        </p:txBody>
      </p:sp>
      <p:sp>
        <p:nvSpPr>
          <p:cNvPr id="8" name="TextBox 8"/>
          <p:cNvSpPr txBox="1"/>
          <p:nvPr/>
        </p:nvSpPr>
        <p:spPr>
          <a:xfrm>
            <a:off x="914400" y="872410"/>
            <a:ext cx="9677400" cy="948849"/>
          </a:xfrm>
          <a:prstGeom prst="rect">
            <a:avLst/>
          </a:prstGeom>
        </p:spPr>
        <p:txBody>
          <a:bodyPr wrap="square"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ARCHITECTURE DIAGRAM</a:t>
            </a:r>
          </a:p>
        </p:txBody>
      </p:sp>
      <p:pic>
        <p:nvPicPr>
          <p:cNvPr id="18" name="Picture 17">
            <a:extLst>
              <a:ext uri="{FF2B5EF4-FFF2-40B4-BE49-F238E27FC236}">
                <a16:creationId xmlns:a16="http://schemas.microsoft.com/office/drawing/2014/main" id="{CE018DA8-D0CD-104F-EEE0-A6416E684FDD}"/>
              </a:ext>
            </a:extLst>
          </p:cNvPr>
          <p:cNvPicPr>
            <a:picLocks noChangeAspect="1"/>
          </p:cNvPicPr>
          <p:nvPr/>
        </p:nvPicPr>
        <p:blipFill>
          <a:blip r:embed="rId2"/>
          <a:stretch>
            <a:fillRect/>
          </a:stretch>
        </p:blipFill>
        <p:spPr>
          <a:xfrm>
            <a:off x="3124200" y="1638379"/>
            <a:ext cx="12741851" cy="84945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5458200" y="9767115"/>
            <a:ext cx="1393249" cy="365760"/>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Inter Medium"/>
                <a:ea typeface="Inter Medium"/>
                <a:cs typeface="Inter Medium"/>
                <a:sym typeface="Inter Medium"/>
              </a:rPr>
              <a:t>PAGE 09</a:t>
            </a:r>
          </a:p>
        </p:txBody>
      </p:sp>
      <p:sp>
        <p:nvSpPr>
          <p:cNvPr id="4" name="TextBox 4"/>
          <p:cNvSpPr txBox="1"/>
          <p:nvPr/>
        </p:nvSpPr>
        <p:spPr>
          <a:xfrm>
            <a:off x="1216226" y="1163955"/>
            <a:ext cx="14010322" cy="948849"/>
          </a:xfrm>
          <a:prstGeom prst="rect">
            <a:avLst/>
          </a:prstGeom>
        </p:spPr>
        <p:txBody>
          <a:bodyPr wrap="square" lIns="0" tIns="0" rIns="0" bIns="0" rtlCol="0" anchor="t">
            <a:spAutoFit/>
          </a:bodyPr>
          <a:lstStyle/>
          <a:p>
            <a:pPr algn="ctr">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TECHNOLOGIES BEHIND THE SYSTEM</a:t>
            </a:r>
          </a:p>
        </p:txBody>
      </p:sp>
      <p:grpSp>
        <p:nvGrpSpPr>
          <p:cNvPr id="5" name="Group 5"/>
          <p:cNvGrpSpPr/>
          <p:nvPr/>
        </p:nvGrpSpPr>
        <p:grpSpPr>
          <a:xfrm>
            <a:off x="1028700" y="3486013"/>
            <a:ext cx="3689658" cy="4324556"/>
            <a:chOff x="0" y="0"/>
            <a:chExt cx="4919544" cy="5766074"/>
          </a:xfrm>
        </p:grpSpPr>
        <p:grpSp>
          <p:nvGrpSpPr>
            <p:cNvPr id="6" name="Group 6"/>
            <p:cNvGrpSpPr/>
            <p:nvPr/>
          </p:nvGrpSpPr>
          <p:grpSpPr>
            <a:xfrm>
              <a:off x="543801" y="0"/>
              <a:ext cx="3831941" cy="38319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498394" y="1436814"/>
              <a:ext cx="1922757" cy="882113"/>
            </a:xfrm>
            <a:prstGeom prst="rect">
              <a:avLst/>
            </a:prstGeom>
          </p:spPr>
          <p:txBody>
            <a:bodyPr lIns="0" tIns="0" rIns="0" bIns="0" rtlCol="0" anchor="t">
              <a:spAutoFit/>
            </a:bodyPr>
            <a:lstStyle/>
            <a:p>
              <a:pPr algn="ctr">
                <a:lnSpc>
                  <a:spcPts val="5585"/>
                </a:lnSpc>
                <a:spcBef>
                  <a:spcPct val="0"/>
                </a:spcBef>
              </a:pPr>
              <a:r>
                <a:rPr lang="en-US" sz="3989" b="1">
                  <a:solidFill>
                    <a:srgbClr val="FFFFFF"/>
                  </a:solidFill>
                  <a:latin typeface="Inter Medium"/>
                  <a:ea typeface="Inter Medium"/>
                  <a:cs typeface="Inter Medium"/>
                  <a:sym typeface="Inter Medium"/>
                </a:rPr>
                <a:t>01</a:t>
              </a:r>
            </a:p>
          </p:txBody>
        </p:sp>
        <p:sp>
          <p:nvSpPr>
            <p:cNvPr id="10" name="TextBox 10"/>
            <p:cNvSpPr txBox="1"/>
            <p:nvPr/>
          </p:nvSpPr>
          <p:spPr>
            <a:xfrm>
              <a:off x="0" y="4950734"/>
              <a:ext cx="4919544" cy="815340"/>
            </a:xfrm>
            <a:prstGeom prst="rect">
              <a:avLst/>
            </a:prstGeom>
          </p:spPr>
          <p:txBody>
            <a:bodyPr lIns="0" tIns="0" rIns="0" bIns="0" rtlCol="0" anchor="t">
              <a:spAutoFit/>
            </a:bodyPr>
            <a:lstStyle/>
            <a:p>
              <a:pPr algn="ctr">
                <a:lnSpc>
                  <a:spcPts val="2520"/>
                </a:lnSpc>
                <a:spcBef>
                  <a:spcPct val="0"/>
                </a:spcBef>
              </a:pPr>
              <a:r>
                <a:rPr lang="en-US" dirty="0">
                  <a:solidFill>
                    <a:srgbClr val="000000"/>
                  </a:solidFill>
                  <a:latin typeface="Inter"/>
                  <a:ea typeface="Inter"/>
                  <a:cs typeface="Inter"/>
                  <a:sym typeface="Inter"/>
                </a:rPr>
                <a:t>Android (Java/Kotlin), XML UI, </a:t>
              </a:r>
              <a:r>
                <a:rPr lang="en-US" dirty="0" err="1">
                  <a:solidFill>
                    <a:srgbClr val="000000"/>
                  </a:solidFill>
                  <a:latin typeface="Inter"/>
                  <a:ea typeface="Inter"/>
                  <a:cs typeface="Inter"/>
                  <a:sym typeface="Inter"/>
                </a:rPr>
                <a:t>NotificationListenerService</a:t>
              </a:r>
              <a:endParaRPr lang="en-US" sz="1800" dirty="0">
                <a:solidFill>
                  <a:srgbClr val="000000"/>
                </a:solidFill>
                <a:latin typeface="Inter"/>
                <a:ea typeface="Inter"/>
                <a:cs typeface="Inter"/>
                <a:sym typeface="Inter"/>
              </a:endParaRPr>
            </a:p>
          </p:txBody>
        </p:sp>
        <p:sp>
          <p:nvSpPr>
            <p:cNvPr id="11" name="TextBox 11"/>
            <p:cNvSpPr txBox="1"/>
            <p:nvPr/>
          </p:nvSpPr>
          <p:spPr>
            <a:xfrm>
              <a:off x="0" y="4224929"/>
              <a:ext cx="4919544" cy="471805"/>
            </a:xfrm>
            <a:prstGeom prst="rect">
              <a:avLst/>
            </a:prstGeom>
          </p:spPr>
          <p:txBody>
            <a:bodyPr lIns="0" tIns="0" rIns="0" bIns="0" rtlCol="0" anchor="t">
              <a:spAutoFit/>
            </a:bodyPr>
            <a:lstStyle/>
            <a:p>
              <a:pPr algn="ctr">
                <a:lnSpc>
                  <a:spcPts val="2940"/>
                </a:lnSpc>
                <a:spcBef>
                  <a:spcPct val="0"/>
                </a:spcBef>
              </a:pPr>
              <a:r>
                <a:rPr lang="en-US" sz="2100" b="1" dirty="0">
                  <a:solidFill>
                    <a:srgbClr val="000000"/>
                  </a:solidFill>
                  <a:latin typeface="Inter Medium"/>
                  <a:ea typeface="Inter Medium"/>
                  <a:cs typeface="Inter Medium"/>
                  <a:sym typeface="Inter Medium"/>
                </a:rPr>
                <a:t>FRONTEND INTERFACE</a:t>
              </a:r>
            </a:p>
          </p:txBody>
        </p:sp>
      </p:grpSp>
      <p:grpSp>
        <p:nvGrpSpPr>
          <p:cNvPr id="12" name="Group 12"/>
          <p:cNvGrpSpPr/>
          <p:nvPr/>
        </p:nvGrpSpPr>
        <p:grpSpPr>
          <a:xfrm>
            <a:off x="5209014" y="3486013"/>
            <a:ext cx="3689658" cy="4324556"/>
            <a:chOff x="0" y="0"/>
            <a:chExt cx="4919544" cy="5766074"/>
          </a:xfrm>
        </p:grpSpPr>
        <p:grpSp>
          <p:nvGrpSpPr>
            <p:cNvPr id="13" name="Group 13"/>
            <p:cNvGrpSpPr/>
            <p:nvPr/>
          </p:nvGrpSpPr>
          <p:grpSpPr>
            <a:xfrm>
              <a:off x="543801" y="0"/>
              <a:ext cx="3831941" cy="383194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6" name="TextBox 16"/>
            <p:cNvSpPr txBox="1"/>
            <p:nvPr/>
          </p:nvSpPr>
          <p:spPr>
            <a:xfrm>
              <a:off x="1498394" y="1436814"/>
              <a:ext cx="1922757" cy="882113"/>
            </a:xfrm>
            <a:prstGeom prst="rect">
              <a:avLst/>
            </a:prstGeom>
          </p:spPr>
          <p:txBody>
            <a:bodyPr lIns="0" tIns="0" rIns="0" bIns="0" rtlCol="0" anchor="t">
              <a:spAutoFit/>
            </a:bodyPr>
            <a:lstStyle/>
            <a:p>
              <a:pPr algn="ctr">
                <a:lnSpc>
                  <a:spcPts val="5585"/>
                </a:lnSpc>
                <a:spcBef>
                  <a:spcPct val="0"/>
                </a:spcBef>
              </a:pPr>
              <a:r>
                <a:rPr lang="en-US" sz="3989" b="1">
                  <a:solidFill>
                    <a:srgbClr val="FFFFFF"/>
                  </a:solidFill>
                  <a:latin typeface="Inter Medium"/>
                  <a:ea typeface="Inter Medium"/>
                  <a:cs typeface="Inter Medium"/>
                  <a:sym typeface="Inter Medium"/>
                </a:rPr>
                <a:t>02</a:t>
              </a:r>
            </a:p>
          </p:txBody>
        </p:sp>
        <p:sp>
          <p:nvSpPr>
            <p:cNvPr id="17" name="TextBox 17"/>
            <p:cNvSpPr txBox="1"/>
            <p:nvPr/>
          </p:nvSpPr>
          <p:spPr>
            <a:xfrm>
              <a:off x="0" y="4950734"/>
              <a:ext cx="4919544" cy="815340"/>
            </a:xfrm>
            <a:prstGeom prst="rect">
              <a:avLst/>
            </a:prstGeom>
          </p:spPr>
          <p:txBody>
            <a:bodyPr lIns="0" tIns="0" rIns="0" bIns="0" rtlCol="0" anchor="t">
              <a:spAutoFit/>
            </a:bodyPr>
            <a:lstStyle/>
            <a:p>
              <a:pPr algn="ctr">
                <a:lnSpc>
                  <a:spcPts val="2520"/>
                </a:lnSpc>
                <a:spcBef>
                  <a:spcPct val="0"/>
                </a:spcBef>
              </a:pPr>
              <a:r>
                <a:rPr lang="en-US" dirty="0">
                  <a:solidFill>
                    <a:srgbClr val="000000"/>
                  </a:solidFill>
                  <a:latin typeface="Inter"/>
                  <a:ea typeface="Inter"/>
                  <a:cs typeface="Inter"/>
                  <a:sym typeface="Inter"/>
                </a:rPr>
                <a:t>Flask (Python), REST APIs, JSON-based communication</a:t>
              </a:r>
              <a:endParaRPr lang="en-US" sz="1800" dirty="0">
                <a:solidFill>
                  <a:srgbClr val="000000"/>
                </a:solidFill>
                <a:latin typeface="Inter"/>
                <a:ea typeface="Inter"/>
                <a:cs typeface="Inter"/>
                <a:sym typeface="Inter"/>
              </a:endParaRPr>
            </a:p>
          </p:txBody>
        </p:sp>
        <p:sp>
          <p:nvSpPr>
            <p:cNvPr id="18" name="TextBox 18"/>
            <p:cNvSpPr txBox="1"/>
            <p:nvPr/>
          </p:nvSpPr>
          <p:spPr>
            <a:xfrm>
              <a:off x="0" y="4224929"/>
              <a:ext cx="4919544" cy="471805"/>
            </a:xfrm>
            <a:prstGeom prst="rect">
              <a:avLst/>
            </a:prstGeom>
          </p:spPr>
          <p:txBody>
            <a:bodyPr lIns="0" tIns="0" rIns="0" bIns="0" rtlCol="0" anchor="t">
              <a:spAutoFit/>
            </a:bodyPr>
            <a:lstStyle/>
            <a:p>
              <a:pPr algn="ctr">
                <a:lnSpc>
                  <a:spcPts val="2940"/>
                </a:lnSpc>
                <a:spcBef>
                  <a:spcPct val="0"/>
                </a:spcBef>
              </a:pPr>
              <a:r>
                <a:rPr lang="en-US" sz="2100" b="1" dirty="0">
                  <a:solidFill>
                    <a:srgbClr val="000000"/>
                  </a:solidFill>
                  <a:latin typeface="Inter Medium"/>
                  <a:ea typeface="Inter Medium"/>
                  <a:cs typeface="Inter Medium"/>
                  <a:sym typeface="Inter Medium"/>
                </a:rPr>
                <a:t>BACKEND SYSTEM</a:t>
              </a:r>
            </a:p>
          </p:txBody>
        </p:sp>
      </p:grpSp>
      <p:grpSp>
        <p:nvGrpSpPr>
          <p:cNvPr id="19" name="Group 19"/>
          <p:cNvGrpSpPr/>
          <p:nvPr/>
        </p:nvGrpSpPr>
        <p:grpSpPr>
          <a:xfrm>
            <a:off x="9389328" y="3486013"/>
            <a:ext cx="3689658" cy="4324556"/>
            <a:chOff x="0" y="0"/>
            <a:chExt cx="4919544" cy="5766074"/>
          </a:xfrm>
        </p:grpSpPr>
        <p:grpSp>
          <p:nvGrpSpPr>
            <p:cNvPr id="20" name="Group 20"/>
            <p:cNvGrpSpPr/>
            <p:nvPr/>
          </p:nvGrpSpPr>
          <p:grpSpPr>
            <a:xfrm>
              <a:off x="543801" y="0"/>
              <a:ext cx="3831941" cy="3831941"/>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23" name="TextBox 23"/>
            <p:cNvSpPr txBox="1"/>
            <p:nvPr/>
          </p:nvSpPr>
          <p:spPr>
            <a:xfrm>
              <a:off x="1498394" y="1436814"/>
              <a:ext cx="1922757" cy="882113"/>
            </a:xfrm>
            <a:prstGeom prst="rect">
              <a:avLst/>
            </a:prstGeom>
          </p:spPr>
          <p:txBody>
            <a:bodyPr lIns="0" tIns="0" rIns="0" bIns="0" rtlCol="0" anchor="t">
              <a:spAutoFit/>
            </a:bodyPr>
            <a:lstStyle/>
            <a:p>
              <a:pPr algn="ctr">
                <a:lnSpc>
                  <a:spcPts val="5585"/>
                </a:lnSpc>
                <a:spcBef>
                  <a:spcPct val="0"/>
                </a:spcBef>
              </a:pPr>
              <a:r>
                <a:rPr lang="en-US" sz="3989" b="1">
                  <a:solidFill>
                    <a:srgbClr val="FFFFFF"/>
                  </a:solidFill>
                  <a:latin typeface="Inter Medium"/>
                  <a:ea typeface="Inter Medium"/>
                  <a:cs typeface="Inter Medium"/>
                  <a:sym typeface="Inter Medium"/>
                </a:rPr>
                <a:t>03</a:t>
              </a:r>
            </a:p>
          </p:txBody>
        </p:sp>
        <p:sp>
          <p:nvSpPr>
            <p:cNvPr id="24" name="TextBox 24"/>
            <p:cNvSpPr txBox="1"/>
            <p:nvPr/>
          </p:nvSpPr>
          <p:spPr>
            <a:xfrm>
              <a:off x="0" y="4950734"/>
              <a:ext cx="4919544" cy="815340"/>
            </a:xfrm>
            <a:prstGeom prst="rect">
              <a:avLst/>
            </a:prstGeom>
          </p:spPr>
          <p:txBody>
            <a:bodyPr lIns="0" tIns="0" rIns="0" bIns="0" rtlCol="0" anchor="t">
              <a:spAutoFit/>
            </a:bodyPr>
            <a:lstStyle/>
            <a:p>
              <a:pPr algn="ctr">
                <a:lnSpc>
                  <a:spcPts val="2520"/>
                </a:lnSpc>
                <a:spcBef>
                  <a:spcPct val="0"/>
                </a:spcBef>
              </a:pPr>
              <a:r>
                <a:rPr lang="en-US" dirty="0">
                  <a:solidFill>
                    <a:srgbClr val="000000"/>
                  </a:solidFill>
                  <a:latin typeface="Inter"/>
                  <a:ea typeface="Inter"/>
                  <a:cs typeface="Inter"/>
                  <a:sym typeface="Inter"/>
                </a:rPr>
                <a:t>OpenAI GPT, NLP (</a:t>
              </a:r>
              <a:r>
                <a:rPr lang="en-US" dirty="0" err="1">
                  <a:solidFill>
                    <a:srgbClr val="000000"/>
                  </a:solidFill>
                  <a:latin typeface="Inter"/>
                  <a:ea typeface="Inter"/>
                  <a:cs typeface="Inter"/>
                  <a:sym typeface="Inter"/>
                </a:rPr>
                <a:t>spaCy</a:t>
              </a:r>
              <a:r>
                <a:rPr lang="en-US" dirty="0">
                  <a:solidFill>
                    <a:srgbClr val="000000"/>
                  </a:solidFill>
                  <a:latin typeface="Inter"/>
                  <a:ea typeface="Inter"/>
                  <a:cs typeface="Inter"/>
                  <a:sym typeface="Inter"/>
                </a:rPr>
                <a:t>), ML models (scikit-learn)</a:t>
              </a:r>
              <a:endParaRPr lang="en-US" sz="1800" dirty="0">
                <a:solidFill>
                  <a:srgbClr val="000000"/>
                </a:solidFill>
                <a:latin typeface="Inter"/>
                <a:ea typeface="Inter"/>
                <a:cs typeface="Inter"/>
                <a:sym typeface="Inter"/>
              </a:endParaRPr>
            </a:p>
          </p:txBody>
        </p:sp>
        <p:sp>
          <p:nvSpPr>
            <p:cNvPr id="25" name="TextBox 25"/>
            <p:cNvSpPr txBox="1"/>
            <p:nvPr/>
          </p:nvSpPr>
          <p:spPr>
            <a:xfrm>
              <a:off x="0" y="4224929"/>
              <a:ext cx="4919544" cy="471805"/>
            </a:xfrm>
            <a:prstGeom prst="rect">
              <a:avLst/>
            </a:prstGeom>
          </p:spPr>
          <p:txBody>
            <a:bodyPr lIns="0" tIns="0" rIns="0" bIns="0" rtlCol="0" anchor="t">
              <a:spAutoFit/>
            </a:bodyPr>
            <a:lstStyle/>
            <a:p>
              <a:pPr algn="ctr">
                <a:lnSpc>
                  <a:spcPts val="2940"/>
                </a:lnSpc>
                <a:spcBef>
                  <a:spcPct val="0"/>
                </a:spcBef>
              </a:pPr>
              <a:r>
                <a:rPr lang="en-US" sz="2100" b="1" dirty="0">
                  <a:solidFill>
                    <a:srgbClr val="000000"/>
                  </a:solidFill>
                  <a:latin typeface="Inter Medium"/>
                  <a:ea typeface="Inter Medium"/>
                  <a:cs typeface="Inter Medium"/>
                  <a:sym typeface="Inter Medium"/>
                </a:rPr>
                <a:t>AI AND NLP MODLES</a:t>
              </a:r>
            </a:p>
          </p:txBody>
        </p:sp>
      </p:grpSp>
      <p:grpSp>
        <p:nvGrpSpPr>
          <p:cNvPr id="26" name="Group 26"/>
          <p:cNvGrpSpPr/>
          <p:nvPr/>
        </p:nvGrpSpPr>
        <p:grpSpPr>
          <a:xfrm>
            <a:off x="13569642" y="3486013"/>
            <a:ext cx="3689658" cy="4324556"/>
            <a:chOff x="0" y="0"/>
            <a:chExt cx="4919544" cy="5766074"/>
          </a:xfrm>
        </p:grpSpPr>
        <p:grpSp>
          <p:nvGrpSpPr>
            <p:cNvPr id="27" name="Group 27"/>
            <p:cNvGrpSpPr/>
            <p:nvPr/>
          </p:nvGrpSpPr>
          <p:grpSpPr>
            <a:xfrm>
              <a:off x="543801" y="0"/>
              <a:ext cx="3831941" cy="3831941"/>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30" name="TextBox 30"/>
            <p:cNvSpPr txBox="1"/>
            <p:nvPr/>
          </p:nvSpPr>
          <p:spPr>
            <a:xfrm>
              <a:off x="1498394" y="1436814"/>
              <a:ext cx="1922757" cy="882113"/>
            </a:xfrm>
            <a:prstGeom prst="rect">
              <a:avLst/>
            </a:prstGeom>
          </p:spPr>
          <p:txBody>
            <a:bodyPr lIns="0" tIns="0" rIns="0" bIns="0" rtlCol="0" anchor="t">
              <a:spAutoFit/>
            </a:bodyPr>
            <a:lstStyle/>
            <a:p>
              <a:pPr algn="ctr">
                <a:lnSpc>
                  <a:spcPts val="5585"/>
                </a:lnSpc>
                <a:spcBef>
                  <a:spcPct val="0"/>
                </a:spcBef>
              </a:pPr>
              <a:r>
                <a:rPr lang="en-US" sz="3989" b="1">
                  <a:solidFill>
                    <a:srgbClr val="FFFFFF"/>
                  </a:solidFill>
                  <a:latin typeface="Inter Medium"/>
                  <a:ea typeface="Inter Medium"/>
                  <a:cs typeface="Inter Medium"/>
                  <a:sym typeface="Inter Medium"/>
                </a:rPr>
                <a:t>04</a:t>
              </a:r>
            </a:p>
          </p:txBody>
        </p:sp>
        <p:sp>
          <p:nvSpPr>
            <p:cNvPr id="31" name="TextBox 31"/>
            <p:cNvSpPr txBox="1"/>
            <p:nvPr/>
          </p:nvSpPr>
          <p:spPr>
            <a:xfrm>
              <a:off x="0" y="4950734"/>
              <a:ext cx="4919544" cy="815340"/>
            </a:xfrm>
            <a:prstGeom prst="rect">
              <a:avLst/>
            </a:prstGeom>
          </p:spPr>
          <p:txBody>
            <a:bodyPr lIns="0" tIns="0" rIns="0" bIns="0" rtlCol="0" anchor="t">
              <a:spAutoFit/>
            </a:bodyPr>
            <a:lstStyle/>
            <a:p>
              <a:pPr algn="ctr">
                <a:lnSpc>
                  <a:spcPts val="2520"/>
                </a:lnSpc>
                <a:spcBef>
                  <a:spcPct val="0"/>
                </a:spcBef>
              </a:pPr>
              <a:r>
                <a:rPr lang="en-US" dirty="0">
                  <a:solidFill>
                    <a:srgbClr val="000000"/>
                  </a:solidFill>
                  <a:latin typeface="Inter"/>
                  <a:ea typeface="Inter"/>
                  <a:cs typeface="Inter"/>
                  <a:sym typeface="Inter"/>
                </a:rPr>
                <a:t>MySQL, Firebase (real-time database), local storage</a:t>
              </a:r>
              <a:endParaRPr lang="en-US" sz="1800" dirty="0">
                <a:solidFill>
                  <a:srgbClr val="000000"/>
                </a:solidFill>
                <a:latin typeface="Inter"/>
                <a:ea typeface="Inter"/>
                <a:cs typeface="Inter"/>
                <a:sym typeface="Inter"/>
              </a:endParaRPr>
            </a:p>
          </p:txBody>
        </p:sp>
        <p:sp>
          <p:nvSpPr>
            <p:cNvPr id="32" name="TextBox 32"/>
            <p:cNvSpPr txBox="1"/>
            <p:nvPr/>
          </p:nvSpPr>
          <p:spPr>
            <a:xfrm>
              <a:off x="0" y="4224929"/>
              <a:ext cx="4919544" cy="471805"/>
            </a:xfrm>
            <a:prstGeom prst="rect">
              <a:avLst/>
            </a:prstGeom>
          </p:spPr>
          <p:txBody>
            <a:bodyPr lIns="0" tIns="0" rIns="0" bIns="0" rtlCol="0" anchor="t">
              <a:spAutoFit/>
            </a:bodyPr>
            <a:lstStyle/>
            <a:p>
              <a:pPr algn="ctr">
                <a:lnSpc>
                  <a:spcPts val="2940"/>
                </a:lnSpc>
                <a:spcBef>
                  <a:spcPct val="0"/>
                </a:spcBef>
              </a:pPr>
              <a:r>
                <a:rPr lang="en-US" sz="2100" b="1" dirty="0">
                  <a:solidFill>
                    <a:srgbClr val="000000"/>
                  </a:solidFill>
                  <a:latin typeface="Inter Medium"/>
                  <a:ea typeface="Inter Medium"/>
                  <a:cs typeface="Inter Medium"/>
                  <a:sym typeface="Inter Medium"/>
                </a:rPr>
                <a:t>DATABASE AND STORAGE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CAEF8-1D6F-520C-F089-55EDBA2311C2}"/>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874B0D37-61F8-E8D9-75F9-8BFBD26ABEEE}"/>
              </a:ext>
            </a:extLst>
          </p:cNvPr>
          <p:cNvSpPr txBox="1"/>
          <p:nvPr/>
        </p:nvSpPr>
        <p:spPr>
          <a:xfrm>
            <a:off x="739178" y="7140738"/>
            <a:ext cx="8431731" cy="1949123"/>
          </a:xfrm>
          <a:prstGeom prst="rect">
            <a:avLst/>
          </a:prstGeom>
        </p:spPr>
        <p:txBody>
          <a:bodyPr wrap="square"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FROM DETECTION TO INTELLIGENT DEFENCE</a:t>
            </a:r>
          </a:p>
        </p:txBody>
      </p:sp>
      <p:sp>
        <p:nvSpPr>
          <p:cNvPr id="11" name="TextBox 11">
            <a:extLst>
              <a:ext uri="{FF2B5EF4-FFF2-40B4-BE49-F238E27FC236}">
                <a16:creationId xmlns:a16="http://schemas.microsoft.com/office/drawing/2014/main" id="{B2BA01E4-66B5-23DB-C058-0219D766695E}"/>
              </a:ext>
            </a:extLst>
          </p:cNvPr>
          <p:cNvSpPr txBox="1"/>
          <p:nvPr/>
        </p:nvSpPr>
        <p:spPr>
          <a:xfrm>
            <a:off x="9787704" y="6681384"/>
            <a:ext cx="7271650" cy="1538883"/>
          </a:xfrm>
          <a:prstGeom prst="rect">
            <a:avLst/>
          </a:prstGeom>
        </p:spPr>
        <p:txBody>
          <a:bodyPr lIns="0" tIns="0" rIns="0" bIns="0" rtlCol="0" anchor="t">
            <a:spAutoFit/>
          </a:bodyPr>
          <a:lstStyle/>
          <a:p>
            <a:pPr algn="just"/>
            <a:r>
              <a:rPr lang="en-US" sz="2000" dirty="0"/>
              <a:t>This project presents a deception-driven multimodal AI system that not only detects scams but actively engages with them. By combining intelligent detection, adaptive response, and continuous learning, the system enhances cybersecurity from passive filtering to proactive defense.</a:t>
            </a:r>
          </a:p>
        </p:txBody>
      </p:sp>
      <p:sp>
        <p:nvSpPr>
          <p:cNvPr id="12" name="TextBox 12">
            <a:extLst>
              <a:ext uri="{FF2B5EF4-FFF2-40B4-BE49-F238E27FC236}">
                <a16:creationId xmlns:a16="http://schemas.microsoft.com/office/drawing/2014/main" id="{47F72D47-7F29-1284-EEF5-83530D03E79E}"/>
              </a:ext>
            </a:extLst>
          </p:cNvPr>
          <p:cNvSpPr txBox="1"/>
          <p:nvPr/>
        </p:nvSpPr>
        <p:spPr>
          <a:xfrm>
            <a:off x="1028700" y="981075"/>
            <a:ext cx="4305300" cy="343364"/>
          </a:xfrm>
          <a:prstGeom prst="rect">
            <a:avLst/>
          </a:prstGeom>
        </p:spPr>
        <p:txBody>
          <a:bodyPr wrap="square" lIns="0" tIns="0" rIns="0" bIns="0" rtlCol="0" anchor="t">
            <a:spAutoFit/>
          </a:bodyPr>
          <a:lstStyle/>
          <a:p>
            <a:pPr algn="l">
              <a:lnSpc>
                <a:spcPts val="2940"/>
              </a:lnSpc>
              <a:spcBef>
                <a:spcPct val="0"/>
              </a:spcBef>
            </a:pPr>
            <a:r>
              <a:rPr lang="en-US" sz="2100" b="1" dirty="0">
                <a:solidFill>
                  <a:srgbClr val="000000"/>
                </a:solidFill>
                <a:latin typeface="Inter Medium"/>
                <a:ea typeface="Inter Medium"/>
                <a:cs typeface="Inter Medium"/>
                <a:sym typeface="Inter Medium"/>
              </a:rPr>
              <a:t>CHALLENGES AND CONCLUSION</a:t>
            </a:r>
          </a:p>
        </p:txBody>
      </p:sp>
      <p:sp>
        <p:nvSpPr>
          <p:cNvPr id="13" name="TextBox 13">
            <a:extLst>
              <a:ext uri="{FF2B5EF4-FFF2-40B4-BE49-F238E27FC236}">
                <a16:creationId xmlns:a16="http://schemas.microsoft.com/office/drawing/2014/main" id="{91A63762-B1A8-4703-9C5E-2AF4C5A4FF97}"/>
              </a:ext>
            </a:extLst>
          </p:cNvPr>
          <p:cNvSpPr txBox="1"/>
          <p:nvPr/>
        </p:nvSpPr>
        <p:spPr>
          <a:xfrm>
            <a:off x="15316200" y="9733429"/>
            <a:ext cx="1393249" cy="343364"/>
          </a:xfrm>
          <a:prstGeom prst="rect">
            <a:avLst/>
          </a:prstGeom>
        </p:spPr>
        <p:txBody>
          <a:bodyPr lIns="0" tIns="0" rIns="0" bIns="0" rtlCol="0" anchor="t">
            <a:spAutoFit/>
          </a:bodyPr>
          <a:lstStyle/>
          <a:p>
            <a:pPr algn="r">
              <a:lnSpc>
                <a:spcPts val="2940"/>
              </a:lnSpc>
              <a:spcBef>
                <a:spcPct val="0"/>
              </a:spcBef>
            </a:pPr>
            <a:r>
              <a:rPr lang="en-US" sz="2100" b="1" dirty="0">
                <a:solidFill>
                  <a:srgbClr val="000000"/>
                </a:solidFill>
                <a:latin typeface="Inter Medium"/>
                <a:ea typeface="Inter Medium"/>
                <a:cs typeface="Inter Medium"/>
                <a:sym typeface="Inter Medium"/>
              </a:rPr>
              <a:t>PAGE 10</a:t>
            </a:r>
          </a:p>
        </p:txBody>
      </p:sp>
      <p:grpSp>
        <p:nvGrpSpPr>
          <p:cNvPr id="35" name="Group 34">
            <a:extLst>
              <a:ext uri="{FF2B5EF4-FFF2-40B4-BE49-F238E27FC236}">
                <a16:creationId xmlns:a16="http://schemas.microsoft.com/office/drawing/2014/main" id="{BA518AF5-EFDE-8D15-BC53-0D4619747E3C}"/>
              </a:ext>
            </a:extLst>
          </p:cNvPr>
          <p:cNvGrpSpPr/>
          <p:nvPr/>
        </p:nvGrpSpPr>
        <p:grpSpPr>
          <a:xfrm>
            <a:off x="597367" y="2171700"/>
            <a:ext cx="16459712" cy="3726500"/>
            <a:chOff x="289377" y="5971568"/>
            <a:chExt cx="16459712" cy="3726500"/>
          </a:xfrm>
        </p:grpSpPr>
        <p:grpSp>
          <p:nvGrpSpPr>
            <p:cNvPr id="4" name="Group 4">
              <a:extLst>
                <a:ext uri="{FF2B5EF4-FFF2-40B4-BE49-F238E27FC236}">
                  <a16:creationId xmlns:a16="http://schemas.microsoft.com/office/drawing/2014/main" id="{AC73FB9E-BA2F-A0A0-4596-9378E8CEA2C9}"/>
                </a:ext>
              </a:extLst>
            </p:cNvPr>
            <p:cNvGrpSpPr/>
            <p:nvPr/>
          </p:nvGrpSpPr>
          <p:grpSpPr>
            <a:xfrm>
              <a:off x="8721108" y="8185406"/>
              <a:ext cx="1512662" cy="1512662"/>
              <a:chOff x="0" y="0"/>
              <a:chExt cx="812800" cy="812800"/>
            </a:xfrm>
          </p:grpSpPr>
          <p:sp>
            <p:nvSpPr>
              <p:cNvPr id="5" name="Freeform 5">
                <a:extLst>
                  <a:ext uri="{FF2B5EF4-FFF2-40B4-BE49-F238E27FC236}">
                    <a16:creationId xmlns:a16="http://schemas.microsoft.com/office/drawing/2014/main" id="{B453E857-F617-2B29-86F3-547DA66E59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6" name="TextBox 6">
                <a:extLst>
                  <a:ext uri="{FF2B5EF4-FFF2-40B4-BE49-F238E27FC236}">
                    <a16:creationId xmlns:a16="http://schemas.microsoft.com/office/drawing/2014/main" id="{B377EF43-CD04-518B-BE79-81B8D63804E1}"/>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7" name="Group 7">
              <a:extLst>
                <a:ext uri="{FF2B5EF4-FFF2-40B4-BE49-F238E27FC236}">
                  <a16:creationId xmlns:a16="http://schemas.microsoft.com/office/drawing/2014/main" id="{EF0F50F1-3A49-D07E-CD8E-AA2C581D9473}"/>
                </a:ext>
              </a:extLst>
            </p:cNvPr>
            <p:cNvGrpSpPr/>
            <p:nvPr/>
          </p:nvGrpSpPr>
          <p:grpSpPr>
            <a:xfrm>
              <a:off x="8721108" y="6017419"/>
              <a:ext cx="1512662" cy="1512662"/>
              <a:chOff x="0" y="0"/>
              <a:chExt cx="812800" cy="812800"/>
            </a:xfrm>
          </p:grpSpPr>
          <p:sp>
            <p:nvSpPr>
              <p:cNvPr id="8" name="Freeform 8">
                <a:extLst>
                  <a:ext uri="{FF2B5EF4-FFF2-40B4-BE49-F238E27FC236}">
                    <a16:creationId xmlns:a16="http://schemas.microsoft.com/office/drawing/2014/main" id="{3FB39BB5-C9EB-4CEC-7249-B7FB307B03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9" name="TextBox 9">
                <a:extLst>
                  <a:ext uri="{FF2B5EF4-FFF2-40B4-BE49-F238E27FC236}">
                    <a16:creationId xmlns:a16="http://schemas.microsoft.com/office/drawing/2014/main" id="{EBEEE251-EF8D-3157-D1B9-A5BB08342AD6}"/>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14" name="Group 14">
              <a:extLst>
                <a:ext uri="{FF2B5EF4-FFF2-40B4-BE49-F238E27FC236}">
                  <a16:creationId xmlns:a16="http://schemas.microsoft.com/office/drawing/2014/main" id="{F7E289A5-964F-E091-452E-9BB13142570C}"/>
                </a:ext>
              </a:extLst>
            </p:cNvPr>
            <p:cNvGrpSpPr/>
            <p:nvPr/>
          </p:nvGrpSpPr>
          <p:grpSpPr>
            <a:xfrm>
              <a:off x="10668000" y="8149687"/>
              <a:ext cx="6081089" cy="1237912"/>
              <a:chOff x="0" y="-47625"/>
              <a:chExt cx="8108119" cy="1650549"/>
            </a:xfrm>
          </p:grpSpPr>
          <p:sp>
            <p:nvSpPr>
              <p:cNvPr id="15" name="TextBox 15">
                <a:extLst>
                  <a:ext uri="{FF2B5EF4-FFF2-40B4-BE49-F238E27FC236}">
                    <a16:creationId xmlns:a16="http://schemas.microsoft.com/office/drawing/2014/main" id="{ED45CD4C-E7D7-7487-766B-755FE6FD7A76}"/>
                  </a:ext>
                </a:extLst>
              </p:cNvPr>
              <p:cNvSpPr txBox="1"/>
              <p:nvPr/>
            </p:nvSpPr>
            <p:spPr>
              <a:xfrm>
                <a:off x="0" y="782443"/>
                <a:ext cx="8108119" cy="820481"/>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Handling user data securely while analyzing messages is essential.</a:t>
                </a:r>
                <a:endParaRPr lang="en-US" sz="1800" dirty="0">
                  <a:solidFill>
                    <a:srgbClr val="000000"/>
                  </a:solidFill>
                  <a:latin typeface="Inter"/>
                  <a:ea typeface="Inter"/>
                  <a:cs typeface="Inter"/>
                  <a:sym typeface="Inter"/>
                </a:endParaRPr>
              </a:p>
            </p:txBody>
          </p:sp>
          <p:sp>
            <p:nvSpPr>
              <p:cNvPr id="16" name="TextBox 16">
                <a:extLst>
                  <a:ext uri="{FF2B5EF4-FFF2-40B4-BE49-F238E27FC236}">
                    <a16:creationId xmlns:a16="http://schemas.microsoft.com/office/drawing/2014/main" id="{672DF747-4880-FC1D-A311-1550AEC3A0CC}"/>
                  </a:ext>
                </a:extLst>
              </p:cNvPr>
              <p:cNvSpPr txBox="1"/>
              <p:nvPr/>
            </p:nvSpPr>
            <p:spPr>
              <a:xfrm>
                <a:off x="0" y="-47625"/>
                <a:ext cx="6250454" cy="457819"/>
              </a:xfrm>
              <a:prstGeom prst="rect">
                <a:avLst/>
              </a:prstGeom>
            </p:spPr>
            <p:txBody>
              <a:bodyPr wrap="square" lIns="0" tIns="0" rIns="0" bIns="0" rtlCol="0" anchor="t">
                <a:spAutoFit/>
              </a:bodyPr>
              <a:lstStyle/>
              <a:p>
                <a:pPr>
                  <a:lnSpc>
                    <a:spcPts val="2940"/>
                  </a:lnSpc>
                  <a:spcBef>
                    <a:spcPct val="0"/>
                  </a:spcBef>
                </a:pPr>
                <a:r>
                  <a:rPr lang="en-US" sz="2100" b="1" dirty="0">
                    <a:solidFill>
                      <a:srgbClr val="000000"/>
                    </a:solidFill>
                    <a:latin typeface="Inter Medium"/>
                    <a:ea typeface="Inter Medium"/>
                    <a:cs typeface="Inter Medium"/>
                    <a:sym typeface="Inter Medium"/>
                  </a:rPr>
                  <a:t>PRIVACY AND SECURITY</a:t>
                </a:r>
              </a:p>
            </p:txBody>
          </p:sp>
        </p:grpSp>
        <p:grpSp>
          <p:nvGrpSpPr>
            <p:cNvPr id="17" name="Group 17">
              <a:extLst>
                <a:ext uri="{FF2B5EF4-FFF2-40B4-BE49-F238E27FC236}">
                  <a16:creationId xmlns:a16="http://schemas.microsoft.com/office/drawing/2014/main" id="{804E01B0-8F0A-0DA0-C670-23C45073C4A9}"/>
                </a:ext>
              </a:extLst>
            </p:cNvPr>
            <p:cNvGrpSpPr/>
            <p:nvPr/>
          </p:nvGrpSpPr>
          <p:grpSpPr>
            <a:xfrm>
              <a:off x="10668000" y="5981700"/>
              <a:ext cx="6081089" cy="1237912"/>
              <a:chOff x="0" y="-47625"/>
              <a:chExt cx="8108119" cy="1650549"/>
            </a:xfrm>
          </p:grpSpPr>
          <p:sp>
            <p:nvSpPr>
              <p:cNvPr id="18" name="TextBox 18">
                <a:extLst>
                  <a:ext uri="{FF2B5EF4-FFF2-40B4-BE49-F238E27FC236}">
                    <a16:creationId xmlns:a16="http://schemas.microsoft.com/office/drawing/2014/main" id="{552A6B30-B532-E53F-3A0D-6B55B4E2BC12}"/>
                  </a:ext>
                </a:extLst>
              </p:cNvPr>
              <p:cNvSpPr txBox="1"/>
              <p:nvPr/>
            </p:nvSpPr>
            <p:spPr>
              <a:xfrm>
                <a:off x="0" y="782443"/>
                <a:ext cx="8108119" cy="820481"/>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Ensuring fast detection and response without delays is critical.</a:t>
                </a:r>
                <a:endParaRPr lang="en-US" sz="1800" dirty="0">
                  <a:solidFill>
                    <a:srgbClr val="000000"/>
                  </a:solidFill>
                  <a:latin typeface="Inter"/>
                  <a:ea typeface="Inter"/>
                  <a:cs typeface="Inter"/>
                  <a:sym typeface="Inter"/>
                </a:endParaRPr>
              </a:p>
            </p:txBody>
          </p:sp>
          <p:sp>
            <p:nvSpPr>
              <p:cNvPr id="19" name="TextBox 19">
                <a:extLst>
                  <a:ext uri="{FF2B5EF4-FFF2-40B4-BE49-F238E27FC236}">
                    <a16:creationId xmlns:a16="http://schemas.microsoft.com/office/drawing/2014/main" id="{2D8481DE-1B5E-3E78-2C68-FCFB58E98391}"/>
                  </a:ext>
                </a:extLst>
              </p:cNvPr>
              <p:cNvSpPr txBox="1"/>
              <p:nvPr/>
            </p:nvSpPr>
            <p:spPr>
              <a:xfrm>
                <a:off x="0" y="-47625"/>
                <a:ext cx="5290806" cy="471805"/>
              </a:xfrm>
              <a:prstGeom prst="rect">
                <a:avLst/>
              </a:prstGeom>
            </p:spPr>
            <p:txBody>
              <a:bodyPr lIns="0" tIns="0" rIns="0" bIns="0" rtlCol="0" anchor="t">
                <a:spAutoFit/>
              </a:bodyPr>
              <a:lstStyle/>
              <a:p>
                <a:pPr>
                  <a:lnSpc>
                    <a:spcPts val="2940"/>
                  </a:lnSpc>
                  <a:spcBef>
                    <a:spcPct val="0"/>
                  </a:spcBef>
                </a:pPr>
                <a:r>
                  <a:rPr lang="en-US" sz="2100" b="1" dirty="0">
                    <a:solidFill>
                      <a:srgbClr val="000000"/>
                    </a:solidFill>
                    <a:latin typeface="Inter Medium"/>
                    <a:ea typeface="Inter Medium"/>
                    <a:cs typeface="Inter Medium"/>
                    <a:sym typeface="Inter Medium"/>
                  </a:rPr>
                  <a:t>REAL-TIME PROCESSING</a:t>
                </a:r>
              </a:p>
            </p:txBody>
          </p:sp>
        </p:grpSp>
        <p:sp>
          <p:nvSpPr>
            <p:cNvPr id="20" name="TextBox 20">
              <a:extLst>
                <a:ext uri="{FF2B5EF4-FFF2-40B4-BE49-F238E27FC236}">
                  <a16:creationId xmlns:a16="http://schemas.microsoft.com/office/drawing/2014/main" id="{CEFA8263-51D4-675D-F1D9-1A26440F5D60}"/>
                </a:ext>
              </a:extLst>
            </p:cNvPr>
            <p:cNvSpPr txBox="1"/>
            <p:nvPr/>
          </p:nvSpPr>
          <p:spPr>
            <a:xfrm>
              <a:off x="9097934" y="6567057"/>
              <a:ext cx="759010" cy="343364"/>
            </a:xfrm>
            <a:prstGeom prst="rect">
              <a:avLst/>
            </a:prstGeom>
          </p:spPr>
          <p:txBody>
            <a:bodyPr lIns="0" tIns="0" rIns="0" bIns="0" rtlCol="0" anchor="t">
              <a:spAutoFit/>
            </a:bodyPr>
            <a:lstStyle/>
            <a:p>
              <a:pPr algn="ctr">
                <a:lnSpc>
                  <a:spcPts val="2940"/>
                </a:lnSpc>
                <a:spcBef>
                  <a:spcPct val="0"/>
                </a:spcBef>
              </a:pPr>
              <a:r>
                <a:rPr lang="en-US" sz="2100" b="1" dirty="0">
                  <a:solidFill>
                    <a:srgbClr val="FFFFFF"/>
                  </a:solidFill>
                  <a:latin typeface="Inter Medium"/>
                  <a:ea typeface="Inter Medium"/>
                  <a:cs typeface="Inter Medium"/>
                  <a:sym typeface="Inter Medium"/>
                </a:rPr>
                <a:t>02</a:t>
              </a:r>
            </a:p>
          </p:txBody>
        </p:sp>
        <p:sp>
          <p:nvSpPr>
            <p:cNvPr id="21" name="TextBox 21">
              <a:extLst>
                <a:ext uri="{FF2B5EF4-FFF2-40B4-BE49-F238E27FC236}">
                  <a16:creationId xmlns:a16="http://schemas.microsoft.com/office/drawing/2014/main" id="{20C15218-FD46-57B0-E53D-4FBF4EDBF5AC}"/>
                </a:ext>
              </a:extLst>
            </p:cNvPr>
            <p:cNvSpPr txBox="1"/>
            <p:nvPr/>
          </p:nvSpPr>
          <p:spPr>
            <a:xfrm>
              <a:off x="9097934" y="8735044"/>
              <a:ext cx="759010" cy="343364"/>
            </a:xfrm>
            <a:prstGeom prst="rect">
              <a:avLst/>
            </a:prstGeom>
          </p:spPr>
          <p:txBody>
            <a:bodyPr lIns="0" tIns="0" rIns="0" bIns="0" rtlCol="0" anchor="t">
              <a:spAutoFit/>
            </a:bodyPr>
            <a:lstStyle/>
            <a:p>
              <a:pPr algn="ctr">
                <a:lnSpc>
                  <a:spcPts val="2940"/>
                </a:lnSpc>
                <a:spcBef>
                  <a:spcPct val="0"/>
                </a:spcBef>
              </a:pPr>
              <a:r>
                <a:rPr lang="en-US" sz="2100" b="1" dirty="0">
                  <a:solidFill>
                    <a:srgbClr val="FFFFFF"/>
                  </a:solidFill>
                  <a:latin typeface="Inter Medium"/>
                  <a:ea typeface="Inter Medium"/>
                  <a:cs typeface="Inter Medium"/>
                  <a:sym typeface="Inter Medium"/>
                </a:rPr>
                <a:t>04</a:t>
              </a:r>
            </a:p>
          </p:txBody>
        </p:sp>
        <p:grpSp>
          <p:nvGrpSpPr>
            <p:cNvPr id="2" name="Group 4">
              <a:extLst>
                <a:ext uri="{FF2B5EF4-FFF2-40B4-BE49-F238E27FC236}">
                  <a16:creationId xmlns:a16="http://schemas.microsoft.com/office/drawing/2014/main" id="{82A612A6-F740-7FAD-24D9-66AE2AD10135}"/>
                </a:ext>
              </a:extLst>
            </p:cNvPr>
            <p:cNvGrpSpPr/>
            <p:nvPr/>
          </p:nvGrpSpPr>
          <p:grpSpPr>
            <a:xfrm>
              <a:off x="289377" y="8175274"/>
              <a:ext cx="1512662" cy="1512662"/>
              <a:chOff x="0" y="0"/>
              <a:chExt cx="812800" cy="812800"/>
            </a:xfrm>
          </p:grpSpPr>
          <p:sp>
            <p:nvSpPr>
              <p:cNvPr id="3" name="Freeform 5">
                <a:extLst>
                  <a:ext uri="{FF2B5EF4-FFF2-40B4-BE49-F238E27FC236}">
                    <a16:creationId xmlns:a16="http://schemas.microsoft.com/office/drawing/2014/main" id="{B5DB69F1-6AF6-CFDC-7781-36314CBA14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2" name="TextBox 6">
                <a:extLst>
                  <a:ext uri="{FF2B5EF4-FFF2-40B4-BE49-F238E27FC236}">
                    <a16:creationId xmlns:a16="http://schemas.microsoft.com/office/drawing/2014/main" id="{13EAC66B-5F26-253B-15C5-D3FE4C291975}"/>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23" name="Group 7">
              <a:extLst>
                <a:ext uri="{FF2B5EF4-FFF2-40B4-BE49-F238E27FC236}">
                  <a16:creationId xmlns:a16="http://schemas.microsoft.com/office/drawing/2014/main" id="{53DE30ED-D1FE-D22D-784E-340A1D8B484A}"/>
                </a:ext>
              </a:extLst>
            </p:cNvPr>
            <p:cNvGrpSpPr/>
            <p:nvPr/>
          </p:nvGrpSpPr>
          <p:grpSpPr>
            <a:xfrm>
              <a:off x="289377" y="6007287"/>
              <a:ext cx="1512662" cy="1512662"/>
              <a:chOff x="0" y="0"/>
              <a:chExt cx="812800" cy="812800"/>
            </a:xfrm>
          </p:grpSpPr>
          <p:sp>
            <p:nvSpPr>
              <p:cNvPr id="24" name="Freeform 8">
                <a:extLst>
                  <a:ext uri="{FF2B5EF4-FFF2-40B4-BE49-F238E27FC236}">
                    <a16:creationId xmlns:a16="http://schemas.microsoft.com/office/drawing/2014/main" id="{6DAA27FB-BEB5-881F-5387-ED2E083747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6" name="TextBox 9">
                <a:extLst>
                  <a:ext uri="{FF2B5EF4-FFF2-40B4-BE49-F238E27FC236}">
                    <a16:creationId xmlns:a16="http://schemas.microsoft.com/office/drawing/2014/main" id="{9F90192D-C642-26E2-555D-8D39682E5F18}"/>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grpSp>
          <p:nvGrpSpPr>
            <p:cNvPr id="27" name="Group 14">
              <a:extLst>
                <a:ext uri="{FF2B5EF4-FFF2-40B4-BE49-F238E27FC236}">
                  <a16:creationId xmlns:a16="http://schemas.microsoft.com/office/drawing/2014/main" id="{7CAE85E5-6769-AE6A-036D-9D3DD52D6A9B}"/>
                </a:ext>
              </a:extLst>
            </p:cNvPr>
            <p:cNvGrpSpPr/>
            <p:nvPr/>
          </p:nvGrpSpPr>
          <p:grpSpPr>
            <a:xfrm>
              <a:off x="2236268" y="8139555"/>
              <a:ext cx="6081090" cy="1237912"/>
              <a:chOff x="-1" y="-47625"/>
              <a:chExt cx="8108120" cy="1650549"/>
            </a:xfrm>
          </p:grpSpPr>
          <p:sp>
            <p:nvSpPr>
              <p:cNvPr id="28" name="TextBox 15">
                <a:extLst>
                  <a:ext uri="{FF2B5EF4-FFF2-40B4-BE49-F238E27FC236}">
                    <a16:creationId xmlns:a16="http://schemas.microsoft.com/office/drawing/2014/main" id="{32171E3F-B363-023A-99A2-AA67AB77D3A4}"/>
                  </a:ext>
                </a:extLst>
              </p:cNvPr>
              <p:cNvSpPr txBox="1"/>
              <p:nvPr/>
            </p:nvSpPr>
            <p:spPr>
              <a:xfrm>
                <a:off x="0" y="782443"/>
                <a:ext cx="8108119" cy="820481"/>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Generating realistic, non-repetitive replies is challenging for AI systems.</a:t>
                </a:r>
                <a:endParaRPr lang="en-US" sz="1800" dirty="0">
                  <a:solidFill>
                    <a:srgbClr val="000000"/>
                  </a:solidFill>
                  <a:latin typeface="Inter"/>
                  <a:ea typeface="Inter"/>
                  <a:cs typeface="Inter"/>
                  <a:sym typeface="Inter"/>
                </a:endParaRPr>
              </a:p>
            </p:txBody>
          </p:sp>
          <p:sp>
            <p:nvSpPr>
              <p:cNvPr id="29" name="TextBox 16">
                <a:extLst>
                  <a:ext uri="{FF2B5EF4-FFF2-40B4-BE49-F238E27FC236}">
                    <a16:creationId xmlns:a16="http://schemas.microsoft.com/office/drawing/2014/main" id="{27262A2E-4230-BD5A-F82F-1B4244293C60}"/>
                  </a:ext>
                </a:extLst>
              </p:cNvPr>
              <p:cNvSpPr txBox="1"/>
              <p:nvPr/>
            </p:nvSpPr>
            <p:spPr>
              <a:xfrm>
                <a:off x="-1" y="-47625"/>
                <a:ext cx="6666055" cy="457819"/>
              </a:xfrm>
              <a:prstGeom prst="rect">
                <a:avLst/>
              </a:prstGeom>
            </p:spPr>
            <p:txBody>
              <a:bodyPr wrap="square" lIns="0" tIns="0" rIns="0" bIns="0" rtlCol="0" anchor="t">
                <a:spAutoFit/>
              </a:bodyPr>
              <a:lstStyle/>
              <a:p>
                <a:pPr>
                  <a:lnSpc>
                    <a:spcPts val="2940"/>
                  </a:lnSpc>
                  <a:spcBef>
                    <a:spcPct val="0"/>
                  </a:spcBef>
                </a:pPr>
                <a:r>
                  <a:rPr lang="en-US" sz="2100" b="1" dirty="0">
                    <a:solidFill>
                      <a:srgbClr val="000000"/>
                    </a:solidFill>
                    <a:latin typeface="Inter Medium"/>
                    <a:ea typeface="Inter Medium"/>
                    <a:cs typeface="Inter Medium"/>
                    <a:sym typeface="Inter Medium"/>
                  </a:rPr>
                  <a:t>RESPONSE GENERATION COMPLEXITY</a:t>
                </a:r>
              </a:p>
            </p:txBody>
          </p:sp>
        </p:grpSp>
        <p:grpSp>
          <p:nvGrpSpPr>
            <p:cNvPr id="30" name="Group 17">
              <a:extLst>
                <a:ext uri="{FF2B5EF4-FFF2-40B4-BE49-F238E27FC236}">
                  <a16:creationId xmlns:a16="http://schemas.microsoft.com/office/drawing/2014/main" id="{155F9C74-65B9-2EB4-D88F-966C8A5ADE15}"/>
                </a:ext>
              </a:extLst>
            </p:cNvPr>
            <p:cNvGrpSpPr/>
            <p:nvPr/>
          </p:nvGrpSpPr>
          <p:grpSpPr>
            <a:xfrm>
              <a:off x="2236269" y="5971568"/>
              <a:ext cx="6081089" cy="1237912"/>
              <a:chOff x="0" y="-47625"/>
              <a:chExt cx="8108119" cy="1650550"/>
            </a:xfrm>
          </p:grpSpPr>
          <p:sp>
            <p:nvSpPr>
              <p:cNvPr id="31" name="TextBox 18">
                <a:extLst>
                  <a:ext uri="{FF2B5EF4-FFF2-40B4-BE49-F238E27FC236}">
                    <a16:creationId xmlns:a16="http://schemas.microsoft.com/office/drawing/2014/main" id="{488416B3-D8E4-D624-6F88-F4543AE6E2B4}"/>
                  </a:ext>
                </a:extLst>
              </p:cNvPr>
              <p:cNvSpPr txBox="1"/>
              <p:nvPr/>
            </p:nvSpPr>
            <p:spPr>
              <a:xfrm>
                <a:off x="0" y="782443"/>
                <a:ext cx="8108119" cy="820482"/>
              </a:xfrm>
              <a:prstGeom prst="rect">
                <a:avLst/>
              </a:prstGeom>
            </p:spPr>
            <p:txBody>
              <a:bodyPr lIns="0" tIns="0" rIns="0" bIns="0" rtlCol="0" anchor="t">
                <a:spAutoFit/>
              </a:bodyPr>
              <a:lstStyle/>
              <a:p>
                <a:pPr algn="just">
                  <a:lnSpc>
                    <a:spcPts val="2520"/>
                  </a:lnSpc>
                  <a:spcBef>
                    <a:spcPct val="0"/>
                  </a:spcBef>
                </a:pPr>
                <a:r>
                  <a:rPr lang="en-US" dirty="0">
                    <a:solidFill>
                      <a:srgbClr val="000000"/>
                    </a:solidFill>
                    <a:latin typeface="Inter"/>
                    <a:ea typeface="Inter"/>
                    <a:cs typeface="Inter"/>
                    <a:sym typeface="Inter"/>
                  </a:rPr>
                  <a:t>Scammers continuously adapt techniques, making detection increasingly complex.</a:t>
                </a:r>
                <a:endParaRPr lang="en-US" sz="1800" dirty="0">
                  <a:solidFill>
                    <a:srgbClr val="000000"/>
                  </a:solidFill>
                  <a:latin typeface="Inter"/>
                  <a:ea typeface="Inter"/>
                  <a:cs typeface="Inter"/>
                  <a:sym typeface="Inter"/>
                </a:endParaRPr>
              </a:p>
            </p:txBody>
          </p:sp>
          <p:sp>
            <p:nvSpPr>
              <p:cNvPr id="32" name="TextBox 19">
                <a:extLst>
                  <a:ext uri="{FF2B5EF4-FFF2-40B4-BE49-F238E27FC236}">
                    <a16:creationId xmlns:a16="http://schemas.microsoft.com/office/drawing/2014/main" id="{7A83F6F2-27E1-DABA-B2BB-8B75B455F7E8}"/>
                  </a:ext>
                </a:extLst>
              </p:cNvPr>
              <p:cNvSpPr txBox="1"/>
              <p:nvPr/>
            </p:nvSpPr>
            <p:spPr>
              <a:xfrm>
                <a:off x="0" y="-47625"/>
                <a:ext cx="5290806" cy="471805"/>
              </a:xfrm>
              <a:prstGeom prst="rect">
                <a:avLst/>
              </a:prstGeom>
            </p:spPr>
            <p:txBody>
              <a:bodyPr lIns="0" tIns="0" rIns="0" bIns="0" rtlCol="0" anchor="t">
                <a:spAutoFit/>
              </a:bodyPr>
              <a:lstStyle/>
              <a:p>
                <a:pPr>
                  <a:lnSpc>
                    <a:spcPts val="2940"/>
                  </a:lnSpc>
                  <a:spcBef>
                    <a:spcPct val="0"/>
                  </a:spcBef>
                </a:pPr>
                <a:r>
                  <a:rPr lang="en-US" sz="2100" b="1" dirty="0">
                    <a:solidFill>
                      <a:srgbClr val="000000"/>
                    </a:solidFill>
                    <a:latin typeface="Inter Medium"/>
                    <a:ea typeface="Inter Medium"/>
                    <a:cs typeface="Inter Medium"/>
                    <a:sym typeface="Inter Medium"/>
                  </a:rPr>
                  <a:t>EVOLVING SCAM PATTERNS</a:t>
                </a:r>
              </a:p>
            </p:txBody>
          </p:sp>
        </p:grpSp>
        <p:sp>
          <p:nvSpPr>
            <p:cNvPr id="33" name="TextBox 20">
              <a:extLst>
                <a:ext uri="{FF2B5EF4-FFF2-40B4-BE49-F238E27FC236}">
                  <a16:creationId xmlns:a16="http://schemas.microsoft.com/office/drawing/2014/main" id="{9E30073F-63ED-5859-2460-1E92F54D0F58}"/>
                </a:ext>
              </a:extLst>
            </p:cNvPr>
            <p:cNvSpPr txBox="1"/>
            <p:nvPr/>
          </p:nvSpPr>
          <p:spPr>
            <a:xfrm>
              <a:off x="666203" y="6556925"/>
              <a:ext cx="759010" cy="365760"/>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01</a:t>
              </a:r>
            </a:p>
          </p:txBody>
        </p:sp>
        <p:sp>
          <p:nvSpPr>
            <p:cNvPr id="34" name="TextBox 21">
              <a:extLst>
                <a:ext uri="{FF2B5EF4-FFF2-40B4-BE49-F238E27FC236}">
                  <a16:creationId xmlns:a16="http://schemas.microsoft.com/office/drawing/2014/main" id="{77BF0D70-A7AE-1466-DD66-30762CB216EC}"/>
                </a:ext>
              </a:extLst>
            </p:cNvPr>
            <p:cNvSpPr txBox="1"/>
            <p:nvPr/>
          </p:nvSpPr>
          <p:spPr>
            <a:xfrm>
              <a:off x="666203" y="8724912"/>
              <a:ext cx="759010" cy="343364"/>
            </a:xfrm>
            <a:prstGeom prst="rect">
              <a:avLst/>
            </a:prstGeom>
          </p:spPr>
          <p:txBody>
            <a:bodyPr lIns="0" tIns="0" rIns="0" bIns="0" rtlCol="0" anchor="t">
              <a:spAutoFit/>
            </a:bodyPr>
            <a:lstStyle/>
            <a:p>
              <a:pPr algn="ctr">
                <a:lnSpc>
                  <a:spcPts val="2940"/>
                </a:lnSpc>
                <a:spcBef>
                  <a:spcPct val="0"/>
                </a:spcBef>
              </a:pPr>
              <a:r>
                <a:rPr lang="en-US" sz="2100" b="1" dirty="0">
                  <a:solidFill>
                    <a:srgbClr val="FFFFFF"/>
                  </a:solidFill>
                  <a:latin typeface="Inter Medium"/>
                  <a:ea typeface="Inter Medium"/>
                  <a:cs typeface="Inter Medium"/>
                  <a:sym typeface="Inter Medium"/>
                </a:rPr>
                <a:t>03</a:t>
              </a:r>
            </a:p>
          </p:txBody>
        </p:sp>
      </p:grpSp>
      <p:sp>
        <p:nvSpPr>
          <p:cNvPr id="25" name="TextBox 11">
            <a:extLst>
              <a:ext uri="{FF2B5EF4-FFF2-40B4-BE49-F238E27FC236}">
                <a16:creationId xmlns:a16="http://schemas.microsoft.com/office/drawing/2014/main" id="{41DDB23A-B236-8857-C8F5-3DEBFCA0AA8A}"/>
              </a:ext>
            </a:extLst>
          </p:cNvPr>
          <p:cNvSpPr txBox="1"/>
          <p:nvPr/>
        </p:nvSpPr>
        <p:spPr>
          <a:xfrm>
            <a:off x="9793746" y="8466929"/>
            <a:ext cx="7271650" cy="615553"/>
          </a:xfrm>
          <a:prstGeom prst="rect">
            <a:avLst/>
          </a:prstGeom>
        </p:spPr>
        <p:txBody>
          <a:bodyPr lIns="0" tIns="0" rIns="0" bIns="0" rtlCol="0" anchor="t">
            <a:spAutoFit/>
          </a:bodyPr>
          <a:lstStyle/>
          <a:p>
            <a:pPr algn="just"/>
            <a:r>
              <a:rPr lang="en-US" sz="2000" dirty="0"/>
              <a:t>Future work includes voice-based scam detection, multilingual support, and fully autonomous AI agents.</a:t>
            </a:r>
          </a:p>
        </p:txBody>
      </p:sp>
    </p:spTree>
    <p:extLst>
      <p:ext uri="{BB962C8B-B14F-4D97-AF65-F5344CB8AC3E}">
        <p14:creationId xmlns:p14="http://schemas.microsoft.com/office/powerpoint/2010/main" val="1909411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6915150" y="4352795"/>
            <a:ext cx="4457700" cy="948849"/>
          </a:xfrm>
          <a:prstGeom prst="rect">
            <a:avLst/>
          </a:prstGeom>
        </p:spPr>
        <p:txBody>
          <a:bodyPr wrap="square" lIns="0" tIns="0" rIns="0" bIns="0" rtlCol="0" anchor="t">
            <a:spAutoFit/>
          </a:bodyPr>
          <a:lstStyle/>
          <a:p>
            <a:pPr algn="l">
              <a:lnSpc>
                <a:spcPts val="7840"/>
              </a:lnSpc>
              <a:spcBef>
                <a:spcPct val="0"/>
              </a:spcBef>
            </a:pPr>
            <a:r>
              <a:rPr lang="en-US" sz="5600" b="1" dirty="0">
                <a:solidFill>
                  <a:srgbClr val="000000"/>
                </a:solidFill>
                <a:latin typeface="Red Hat Display Bold"/>
                <a:ea typeface="Red Hat Display Bold"/>
                <a:cs typeface="Red Hat Display Bold"/>
                <a:sym typeface="Red Hat Display Bold"/>
              </a:rPr>
              <a:t>THANK YOU</a:t>
            </a:r>
          </a:p>
        </p:txBody>
      </p:sp>
      <p:grpSp>
        <p:nvGrpSpPr>
          <p:cNvPr id="11" name="Group 11"/>
          <p:cNvGrpSpPr/>
          <p:nvPr/>
        </p:nvGrpSpPr>
        <p:grpSpPr>
          <a:xfrm>
            <a:off x="12743135" y="6163530"/>
            <a:ext cx="3512536" cy="672860"/>
            <a:chOff x="0" y="0"/>
            <a:chExt cx="4683381" cy="897147"/>
          </a:xfrm>
        </p:grpSpPr>
        <p:sp>
          <p:nvSpPr>
            <p:cNvPr id="12" name="TextBox 12"/>
            <p:cNvSpPr txBox="1"/>
            <p:nvPr/>
          </p:nvSpPr>
          <p:spPr>
            <a:xfrm>
              <a:off x="0" y="500907"/>
              <a:ext cx="4683381" cy="396240"/>
            </a:xfrm>
            <a:prstGeom prst="rect">
              <a:avLst/>
            </a:prstGeom>
          </p:spPr>
          <p:txBody>
            <a:bodyPr lIns="0" tIns="0" rIns="0" bIns="0" rtlCol="0" anchor="t">
              <a:spAutoFit/>
            </a:bodyPr>
            <a:lstStyle/>
            <a:p>
              <a:pPr algn="ctr">
                <a:lnSpc>
                  <a:spcPts val="2520"/>
                </a:lnSpc>
                <a:spcBef>
                  <a:spcPct val="0"/>
                </a:spcBef>
              </a:pPr>
              <a:r>
                <a:rPr lang="en-US" sz="1800" b="1">
                  <a:solidFill>
                    <a:srgbClr val="FFFFFF"/>
                  </a:solidFill>
                  <a:latin typeface="Inter Medium"/>
                  <a:ea typeface="Inter Medium"/>
                  <a:cs typeface="Inter Medium"/>
                  <a:sym typeface="Inter Medium"/>
                </a:rPr>
                <a:t>hello@reallygreatsite.com</a:t>
              </a:r>
            </a:p>
          </p:txBody>
        </p:sp>
        <p:sp>
          <p:nvSpPr>
            <p:cNvPr id="13" name="TextBox 13"/>
            <p:cNvSpPr txBox="1"/>
            <p:nvPr/>
          </p:nvSpPr>
          <p:spPr>
            <a:xfrm>
              <a:off x="1164911" y="-47625"/>
              <a:ext cx="2353560" cy="47180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EMAIL</a:t>
              </a:r>
            </a:p>
          </p:txBody>
        </p:sp>
      </p:grpSp>
      <p:grpSp>
        <p:nvGrpSpPr>
          <p:cNvPr id="14" name="Group 14"/>
          <p:cNvGrpSpPr/>
          <p:nvPr/>
        </p:nvGrpSpPr>
        <p:grpSpPr>
          <a:xfrm>
            <a:off x="12743135" y="4509085"/>
            <a:ext cx="3512536" cy="672860"/>
            <a:chOff x="0" y="0"/>
            <a:chExt cx="4683381" cy="897147"/>
          </a:xfrm>
        </p:grpSpPr>
        <p:sp>
          <p:nvSpPr>
            <p:cNvPr id="15" name="TextBox 15"/>
            <p:cNvSpPr txBox="1"/>
            <p:nvPr/>
          </p:nvSpPr>
          <p:spPr>
            <a:xfrm>
              <a:off x="0" y="500907"/>
              <a:ext cx="4683381" cy="396240"/>
            </a:xfrm>
            <a:prstGeom prst="rect">
              <a:avLst/>
            </a:prstGeom>
          </p:spPr>
          <p:txBody>
            <a:bodyPr lIns="0" tIns="0" rIns="0" bIns="0" rtlCol="0" anchor="t">
              <a:spAutoFit/>
            </a:bodyPr>
            <a:lstStyle/>
            <a:p>
              <a:pPr algn="ctr">
                <a:lnSpc>
                  <a:spcPts val="2520"/>
                </a:lnSpc>
                <a:spcBef>
                  <a:spcPct val="0"/>
                </a:spcBef>
              </a:pPr>
              <a:r>
                <a:rPr lang="en-US" sz="1800" b="1">
                  <a:solidFill>
                    <a:srgbClr val="FFFFFF"/>
                  </a:solidFill>
                  <a:latin typeface="Inter Medium"/>
                  <a:ea typeface="Inter Medium"/>
                  <a:cs typeface="Inter Medium"/>
                  <a:sym typeface="Inter Medium"/>
                </a:rPr>
                <a:t>www.reallygreatsite.com</a:t>
              </a:r>
            </a:p>
          </p:txBody>
        </p:sp>
        <p:sp>
          <p:nvSpPr>
            <p:cNvPr id="16" name="TextBox 16"/>
            <p:cNvSpPr txBox="1"/>
            <p:nvPr/>
          </p:nvSpPr>
          <p:spPr>
            <a:xfrm>
              <a:off x="1164911" y="-47625"/>
              <a:ext cx="2353560" cy="47180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WEBSITE</a:t>
              </a:r>
            </a:p>
          </p:txBody>
        </p:sp>
      </p:grpSp>
      <p:grpSp>
        <p:nvGrpSpPr>
          <p:cNvPr id="17" name="Group 17"/>
          <p:cNvGrpSpPr/>
          <p:nvPr/>
        </p:nvGrpSpPr>
        <p:grpSpPr>
          <a:xfrm>
            <a:off x="12743135" y="2854640"/>
            <a:ext cx="3512536" cy="672860"/>
            <a:chOff x="0" y="0"/>
            <a:chExt cx="4683381" cy="897147"/>
          </a:xfrm>
        </p:grpSpPr>
        <p:sp>
          <p:nvSpPr>
            <p:cNvPr id="18" name="TextBox 18"/>
            <p:cNvSpPr txBox="1"/>
            <p:nvPr/>
          </p:nvSpPr>
          <p:spPr>
            <a:xfrm>
              <a:off x="0" y="500907"/>
              <a:ext cx="4683381" cy="396240"/>
            </a:xfrm>
            <a:prstGeom prst="rect">
              <a:avLst/>
            </a:prstGeom>
          </p:spPr>
          <p:txBody>
            <a:bodyPr lIns="0" tIns="0" rIns="0" bIns="0" rtlCol="0" anchor="t">
              <a:spAutoFit/>
            </a:bodyPr>
            <a:lstStyle/>
            <a:p>
              <a:pPr algn="ctr">
                <a:lnSpc>
                  <a:spcPts val="2520"/>
                </a:lnSpc>
                <a:spcBef>
                  <a:spcPct val="0"/>
                </a:spcBef>
              </a:pPr>
              <a:r>
                <a:rPr lang="en-US" sz="1800" b="1">
                  <a:solidFill>
                    <a:srgbClr val="FFFFFF"/>
                  </a:solidFill>
                  <a:latin typeface="Inter Medium"/>
                  <a:ea typeface="Inter Medium"/>
                  <a:cs typeface="Inter Medium"/>
                  <a:sym typeface="Inter Medium"/>
                </a:rPr>
                <a:t>+123-456-7890</a:t>
              </a:r>
            </a:p>
          </p:txBody>
        </p:sp>
        <p:sp>
          <p:nvSpPr>
            <p:cNvPr id="19" name="TextBox 19"/>
            <p:cNvSpPr txBox="1"/>
            <p:nvPr/>
          </p:nvSpPr>
          <p:spPr>
            <a:xfrm>
              <a:off x="1164911" y="-47625"/>
              <a:ext cx="2353560" cy="47180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PHONE</a:t>
              </a:r>
            </a:p>
          </p:txBody>
        </p:sp>
      </p:grpSp>
      <p:grpSp>
        <p:nvGrpSpPr>
          <p:cNvPr id="20" name="Group 20"/>
          <p:cNvGrpSpPr/>
          <p:nvPr/>
        </p:nvGrpSpPr>
        <p:grpSpPr>
          <a:xfrm>
            <a:off x="12743135" y="7817975"/>
            <a:ext cx="3512536" cy="672860"/>
            <a:chOff x="0" y="0"/>
            <a:chExt cx="4683381" cy="897147"/>
          </a:xfrm>
        </p:grpSpPr>
        <p:sp>
          <p:nvSpPr>
            <p:cNvPr id="21" name="TextBox 21"/>
            <p:cNvSpPr txBox="1"/>
            <p:nvPr/>
          </p:nvSpPr>
          <p:spPr>
            <a:xfrm>
              <a:off x="0" y="500907"/>
              <a:ext cx="4683381" cy="396240"/>
            </a:xfrm>
            <a:prstGeom prst="rect">
              <a:avLst/>
            </a:prstGeom>
          </p:spPr>
          <p:txBody>
            <a:bodyPr lIns="0" tIns="0" rIns="0" bIns="0" rtlCol="0" anchor="t">
              <a:spAutoFit/>
            </a:bodyPr>
            <a:lstStyle/>
            <a:p>
              <a:pPr algn="ctr">
                <a:lnSpc>
                  <a:spcPts val="2520"/>
                </a:lnSpc>
                <a:spcBef>
                  <a:spcPct val="0"/>
                </a:spcBef>
              </a:pPr>
              <a:r>
                <a:rPr lang="en-US" sz="1800" b="1">
                  <a:solidFill>
                    <a:srgbClr val="FFFFFF"/>
                  </a:solidFill>
                  <a:latin typeface="Inter Medium"/>
                  <a:ea typeface="Inter Medium"/>
                  <a:cs typeface="Inter Medium"/>
                  <a:sym typeface="Inter Medium"/>
                </a:rPr>
                <a:t>123 Anywhere St., Any City</a:t>
              </a:r>
            </a:p>
          </p:txBody>
        </p:sp>
        <p:sp>
          <p:nvSpPr>
            <p:cNvPr id="22" name="TextBox 22"/>
            <p:cNvSpPr txBox="1"/>
            <p:nvPr/>
          </p:nvSpPr>
          <p:spPr>
            <a:xfrm>
              <a:off x="1164911" y="-47625"/>
              <a:ext cx="2353560" cy="471805"/>
            </a:xfrm>
            <a:prstGeom prst="rect">
              <a:avLst/>
            </a:prstGeom>
          </p:spPr>
          <p:txBody>
            <a:bodyPr lIns="0" tIns="0" rIns="0" bIns="0" rtlCol="0" anchor="t">
              <a:spAutoFit/>
            </a:bodyPr>
            <a:lstStyle/>
            <a:p>
              <a:pPr algn="ctr">
                <a:lnSpc>
                  <a:spcPts val="2940"/>
                </a:lnSpc>
                <a:spcBef>
                  <a:spcPct val="0"/>
                </a:spcBef>
              </a:pPr>
              <a:r>
                <a:rPr lang="en-US" sz="2100" b="1">
                  <a:solidFill>
                    <a:srgbClr val="FFFFFF"/>
                  </a:solidFill>
                  <a:latin typeface="Inter Medium"/>
                  <a:ea typeface="Inter Medium"/>
                  <a:cs typeface="Inter Medium"/>
                  <a:sym typeface="Inter Medium"/>
                </a:rPr>
                <a:t>ADDRESS</a:t>
              </a:r>
            </a:p>
          </p:txBody>
        </p:sp>
      </p:grpSp>
      <p:sp>
        <p:nvSpPr>
          <p:cNvPr id="23" name="AutoShape 23"/>
          <p:cNvSpPr/>
          <p:nvPr/>
        </p:nvSpPr>
        <p:spPr>
          <a:xfrm>
            <a:off x="12507744" y="3932167"/>
            <a:ext cx="3920981" cy="0"/>
          </a:xfrm>
          <a:prstGeom prst="line">
            <a:avLst/>
          </a:prstGeom>
          <a:ln w="28575" cap="flat">
            <a:solidFill>
              <a:srgbClr val="FFFFFF"/>
            </a:solidFill>
            <a:prstDash val="solid"/>
            <a:headEnd type="none" w="sm" len="sm"/>
            <a:tailEnd type="none" w="sm" len="sm"/>
          </a:ln>
        </p:spPr>
      </p:sp>
      <p:sp>
        <p:nvSpPr>
          <p:cNvPr id="24" name="AutoShape 24"/>
          <p:cNvSpPr/>
          <p:nvPr/>
        </p:nvSpPr>
        <p:spPr>
          <a:xfrm>
            <a:off x="12538913" y="5672738"/>
            <a:ext cx="3920981" cy="0"/>
          </a:xfrm>
          <a:prstGeom prst="line">
            <a:avLst/>
          </a:prstGeom>
          <a:ln w="28575" cap="flat">
            <a:solidFill>
              <a:srgbClr val="FFFFFF"/>
            </a:solidFill>
            <a:prstDash val="solid"/>
            <a:headEnd type="none" w="sm" len="sm"/>
            <a:tailEnd type="none" w="sm" len="sm"/>
          </a:ln>
        </p:spPr>
      </p:sp>
      <p:sp>
        <p:nvSpPr>
          <p:cNvPr id="25" name="AutoShape 25"/>
          <p:cNvSpPr/>
          <p:nvPr/>
        </p:nvSpPr>
        <p:spPr>
          <a:xfrm>
            <a:off x="12538913" y="7327183"/>
            <a:ext cx="3920981" cy="0"/>
          </a:xfrm>
          <a:prstGeom prst="line">
            <a:avLst/>
          </a:prstGeom>
          <a:ln w="28575" cap="flat">
            <a:solidFill>
              <a:srgbClr val="FFFFFF"/>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AI-Based Real-Time Intelligent Surveillance System for Multi-Condition Threat</Template>
  <TotalTime>722</TotalTime>
  <Words>704</Words>
  <Application>Microsoft Office PowerPoint</Application>
  <PresentationFormat>Custom</PresentationFormat>
  <Paragraphs>122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Inter Medium</vt:lpstr>
      <vt:lpstr>Arial</vt:lpstr>
      <vt:lpstr>Inter</vt:lpstr>
      <vt:lpstr>Red Hat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Modern Technology Presentation</dc:title>
  <dc:creator>Santhosh G Rao</dc:creator>
  <cp:lastModifiedBy>Santhosh G Rao</cp:lastModifiedBy>
  <cp:revision>5</cp:revision>
  <dcterms:created xsi:type="dcterms:W3CDTF">2006-08-16T00:00:00Z</dcterms:created>
  <dcterms:modified xsi:type="dcterms:W3CDTF">2026-05-02T01:55:14Z</dcterms:modified>
  <dc:identifier>DAHGfcGd82A</dc:identifier>
</cp:coreProperties>
</file>